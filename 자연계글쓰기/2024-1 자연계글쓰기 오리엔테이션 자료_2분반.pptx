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1" r:id="rId6"/>
    <p:sldId id="262" r:id="rId7"/>
    <p:sldId id="282" r:id="rId8"/>
    <p:sldId id="283" r:id="rId9"/>
    <p:sldId id="263" r:id="rId10"/>
    <p:sldId id="266" r:id="rId11"/>
    <p:sldId id="265" r:id="rId12"/>
    <p:sldId id="267" r:id="rId13"/>
    <p:sldId id="272" r:id="rId14"/>
    <p:sldId id="279" r:id="rId15"/>
    <p:sldId id="280" r:id="rId16"/>
    <p:sldId id="281" r:id="rId17"/>
    <p:sldId id="284" r:id="rId18"/>
    <p:sldId id="274" r:id="rId19"/>
    <p:sldId id="273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tori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8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288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70E1B7EA-2DA5-4FA8-9738-C911E3849A32}" type="datetime1">
              <a:rPr lang="ko-KR" altLang="en-US"/>
              <a:pPr lvl="0">
                <a:defRPr/>
              </a:pPr>
              <a:t>2024. 3. 1.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34FD1A91-C7B2-4809-802D-0246FB48375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6422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1A91-C7B2-4809-802D-0246FB48375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56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A00AE-B805-4097-9A6B-8071899B2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77712A-DEE3-4E91-A66D-2EEEF34F5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EEF392-74F1-4FB8-B54D-93E0E1A29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17820-C519-4AE0-88F6-B3431F78F6EA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695FFD-FC11-46C7-9BE1-AF1546CE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AEA35-8F49-4787-B3FF-5D2F91D9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8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15AEF-0BBB-48A8-B043-DDAC0402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9C65C9-E4D3-4253-8BF7-0A6517C2A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0EAB7-A542-46F1-8B22-1602B00F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7F01B-460B-417C-8CEF-2CB22C1CC615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98F40E-4E4C-4CD3-9FA8-0210CE10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97248-E602-49B1-B3CE-297C81F2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1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0184D-0401-47BD-B43E-5A0FCAD0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7C9373-C96C-493B-82AC-87EAACCE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A73BC-F14D-4259-9EA9-89D16FBC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1E13D-1977-4A43-9544-711989A860A3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61469D-775B-4F39-9DF5-D1B7406A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C0F8BD-5DC7-462B-BB91-2A5DAB30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27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2E4AF-060D-4A2D-8E17-A589C928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963098-6691-4436-B50F-5F3372A79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8D4402-9968-402A-A87B-80CEB9507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2E7082-16FE-4880-AA4E-1B24BCD4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8296-D8A1-44C6-8EE1-0261B4980E0C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1EDB04-0E3F-4C80-9475-AE29BBA7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E8848-6D8E-429C-AB53-CE59523F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3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7B115-7481-489A-A34E-5EA77F79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7B70AE-8B77-43E1-93D5-30B833187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74B9A4-2D78-4F24-9833-43A11C41D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0CE98F-59C0-4208-8508-564AFC925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73160E-E37B-4A37-990E-6442D35B5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7CF3B4-4B39-4922-9E7A-F1501345E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D685-D467-473F-8F54-60C82788818F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6FA3E8-AA6A-411F-A8AE-20668761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F84544-E6CA-499B-AF9B-89E6BBA1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50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307A3-87B5-40FE-AA36-C9BE651C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81E3A7-B8BE-4137-9B9E-24C6CD6C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314F-7B72-45DD-9EC4-595BB66A20EC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60A42-47D3-44B1-9809-F4FB0A44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2D9499-6709-40CF-9BDE-0F09FDC8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6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7B575B-E6F0-43DA-A9E0-B5E6EE0B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49B91-0CD6-4FC1-B654-E6FE1D8FEFE0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B334CF-143F-4ACF-8F1E-EC1188A2C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0E262-EB09-4DA8-91A2-4F1BE73F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60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89585-2F9B-4FCA-B174-B1F7A239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3C0F12-95C5-4DAF-AD5E-25D1D26F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540C8A-3AC0-4E87-B45A-61F56F54B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723076-4FEB-44BC-BA63-8FC6C96E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BFBD-49B9-436A-A298-749489F81005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15DC5C-7876-4AF1-8B97-F7103BC0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8240D7-21C6-447A-95F4-61456F63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27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7C27F-CC98-4893-B03B-A6F85090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B02DF7-039F-44B3-AB37-E7161FB5B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06E03A-10BB-4AAA-BB97-D30E82A74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86740A-A04F-4AFF-991A-BE3E3F23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07B3-9299-4DB6-8665-1684C9DA9080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C65296-6142-4048-A068-CBD255D3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91C57B-2E82-48E4-8194-5B758D7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26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889AB-5074-4C28-BF8A-FABC1682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5CE932-69C0-40DB-AD9D-C1D1A7AED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650A5E-4ED1-4734-9279-B8EBEBA3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42C6-0B98-49D9-B495-4DF2A302DDBC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69CD4C-82FF-4559-9806-9C03EBE0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9DE5B-62B8-4584-A1A7-1F3C668F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51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63CE9E-77AC-4616-B022-537CA1117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1C2EA0-83C3-4ACA-A3A4-D6EAC611D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26F5A7-A3D0-48EF-9E66-CE246E067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F4DF4-979B-44DB-884F-454A01316BC7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E3CCF8-97B0-47DD-8112-CBD75965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E561D8-087D-455D-A738-219F7D94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42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F06E5D-CA63-48E2-A300-41CDA74EC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8895E1-65DC-40EE-909C-05E5E61AC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3925A8-FCB3-410F-8BAF-986223E7C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17866-285B-4286-AF50-8BEE57A2ED07}" type="datetime1">
              <a:rPr lang="ko-KR" altLang="en-US" smtClean="0"/>
              <a:t>2024. 3. 1.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3C8596-8EEB-4924-B203-6DE25583C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8BB207-F2A8-4235-B83F-99D29AA43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9A3A9-4070-42CE-8BEB-208C13FF8D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04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peller.cs.pusan.ac.kr/" TargetMode="Externa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curvetoe@sogang.ac.k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9842" y="637563"/>
            <a:ext cx="97144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latin typeface="함초롬돋움"/>
                <a:ea typeface="함초롬돋움"/>
                <a:cs typeface="함초롬돋움"/>
              </a:rPr>
              <a:t>2024</a:t>
            </a:r>
            <a:r>
              <a:rPr lang="ko-KR" altLang="en-US" sz="4800" b="1" dirty="0">
                <a:latin typeface="함초롬돋움"/>
                <a:ea typeface="함초롬돋움"/>
                <a:cs typeface="함초롬돋움"/>
              </a:rPr>
              <a:t>학년도 </a:t>
            </a:r>
            <a:r>
              <a:rPr lang="en-US" altLang="ko-KR" sz="4800" b="1" dirty="0">
                <a:latin typeface="함초롬돋움"/>
                <a:ea typeface="함초롬돋움"/>
                <a:cs typeface="함초롬돋움"/>
              </a:rPr>
              <a:t>1</a:t>
            </a:r>
            <a:r>
              <a:rPr lang="ko-KR" altLang="en-US" sz="4800" b="1" dirty="0">
                <a:latin typeface="함초롬돋움"/>
                <a:ea typeface="함초롬돋움"/>
                <a:cs typeface="함초롬돋움"/>
              </a:rPr>
              <a:t>학기</a:t>
            </a:r>
          </a:p>
          <a:p>
            <a:pPr lvl="0">
              <a:defRPr/>
            </a:pPr>
            <a:r>
              <a:rPr lang="ko-KR" altLang="en-US" sz="6000" b="1" dirty="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자연계 글쓰기 </a:t>
            </a:r>
            <a:r>
              <a:rPr lang="en-US" altLang="ko-KR" sz="6000" b="1" dirty="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2</a:t>
            </a:r>
            <a:r>
              <a:rPr lang="ko-KR" altLang="en-US" sz="6000" b="1" dirty="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반</a:t>
            </a:r>
          </a:p>
          <a:p>
            <a:pPr lvl="0">
              <a:defRPr/>
            </a:pPr>
            <a:r>
              <a:rPr lang="ko-KR" altLang="en-US" sz="6000" b="1" dirty="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독후감 오리엔테이션</a:t>
            </a:r>
            <a:endParaRPr lang="en-US" altLang="ko-KR" sz="6000" b="1" dirty="0">
              <a:solidFill>
                <a:srgbClr val="920D14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883047"/>
              </p:ext>
            </p:extLst>
          </p:nvPr>
        </p:nvGraphicFramePr>
        <p:xfrm>
          <a:off x="729841" y="5392334"/>
          <a:ext cx="1046946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1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담당 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 </a:t>
                      </a:r>
                      <a:r>
                        <a:rPr lang="ko-KR" altLang="en-US" sz="2400" dirty="0" err="1">
                          <a:latin typeface="함초롬돋움"/>
                          <a:ea typeface="함초롬돋움"/>
                          <a:cs typeface="함초롬돋움"/>
                        </a:rPr>
                        <a:t>백진우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 교수님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2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담당 독후감 조교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 김용범 조교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2400" dirty="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그래픽 2" descr="연필">
            <a:extLst>
              <a:ext uri="{FF2B5EF4-FFF2-40B4-BE49-F238E27FC236}">
                <a16:creationId xmlns:a16="http://schemas.microsoft.com/office/drawing/2014/main" id="{2ED34325-5EC2-4D57-B315-9E1180A1A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0600" y="637563"/>
            <a:ext cx="2528723" cy="252872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190123" y="136525"/>
            <a:ext cx="15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2024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743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CC171C-0645-462F-AF9F-5B062353C8A3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개요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D0B17-EE60-405E-A3CD-3DC3DBAB5524}"/>
              </a:ext>
            </a:extLst>
          </p:cNvPr>
          <p:cNvSpPr txBox="1"/>
          <p:nvPr/>
        </p:nvSpPr>
        <p:spPr>
          <a:xfrm>
            <a:off x="511728" y="1686187"/>
            <a:ext cx="7290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</a:t>
            </a:r>
            <a:r>
              <a:rPr lang="ko-KR" altLang="en-US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</a:t>
            </a:r>
            <a:r>
              <a:rPr lang="en-US" altLang="ko-KR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</a:t>
            </a:r>
            <a:r>
              <a:rPr lang="ko-KR" altLang="en-US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편의 독후감 제출</a:t>
            </a:r>
            <a:endParaRPr lang="en-US" altLang="ko-KR" sz="2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0954"/>
              </p:ext>
            </p:extLst>
          </p:nvPr>
        </p:nvGraphicFramePr>
        <p:xfrm>
          <a:off x="511728" y="2359922"/>
          <a:ext cx="10441498" cy="29025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11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50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100" b="0">
                          <a:latin typeface="함초롬돋움"/>
                          <a:ea typeface="함초롬돋움"/>
                          <a:cs typeface="함초롬돋움"/>
                        </a:rPr>
                        <a:t>기수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D1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100" b="0">
                          <a:latin typeface="함초롬돋움"/>
                          <a:ea typeface="함초롬돋움"/>
                          <a:cs typeface="함초롬돋움"/>
                        </a:rPr>
                        <a:t>제출일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D1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100" b="0" dirty="0">
                          <a:latin typeface="함초롬돋움"/>
                          <a:ea typeface="함초롬돋움"/>
                          <a:cs typeface="함초롬돋움"/>
                        </a:rPr>
                        <a:t>자수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50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제</a:t>
                      </a:r>
                      <a:r>
                        <a:rPr lang="en-US" altLang="ko-KR" sz="2400"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기 독후감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3.23(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토</a:t>
                      </a: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) 18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함초롬돋움"/>
                          <a:ea typeface="함초롬돋움"/>
                          <a:cs typeface="함초롬돋움"/>
                        </a:rPr>
                        <a:t>1,500</a:t>
                      </a: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자 내외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50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제</a:t>
                      </a:r>
                      <a:r>
                        <a:rPr lang="en-US" altLang="ko-KR" sz="2400"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기 독후감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4.13(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토</a:t>
                      </a: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) 18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함초롬돋움"/>
                          <a:ea typeface="함초롬돋움"/>
                          <a:cs typeface="함초롬돋움"/>
                        </a:rPr>
                        <a:t>1,800</a:t>
                      </a: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자 내외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50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제</a:t>
                      </a:r>
                      <a:r>
                        <a:rPr lang="en-US" altLang="ko-KR" sz="2400"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기 독후감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5.11(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토</a:t>
                      </a: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) 18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함초롬돋움"/>
                          <a:ea typeface="함초롬돋움"/>
                          <a:cs typeface="함초롬돋움"/>
                        </a:rPr>
                        <a:t>1,500</a:t>
                      </a: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자 내외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noFill/>
                      <a:prstDash val="solid"/>
                      <a:miter/>
                    </a:lnT>
                    <a:lnB w="6350" cap="flat" cmpd="sng" algn="ctr">
                      <a:noFill/>
                      <a:prstDash val="solid"/>
                      <a:miter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50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제</a:t>
                      </a:r>
                      <a:r>
                        <a:rPr lang="en-US" altLang="ko-KR" sz="2400"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r>
                        <a:rPr lang="ko-KR" altLang="en-US" sz="2400">
                          <a:latin typeface="함초롬돋움"/>
                          <a:ea typeface="함초롬돋움"/>
                          <a:cs typeface="함초롬돋움"/>
                        </a:rPr>
                        <a:t>기 독후감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6.01(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토</a:t>
                      </a: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) 18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/>
                    </a:lnT>
                    <a:lnB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>
                          <a:latin typeface="함초롬돋움"/>
                          <a:ea typeface="함초롬돋움"/>
                          <a:cs typeface="함초롬돋움"/>
                        </a:rPr>
                        <a:t>1,800</a:t>
                      </a:r>
                      <a:r>
                        <a:rPr lang="ko-KR" altLang="en-US" sz="2400" dirty="0">
                          <a:latin typeface="함초롬돋움"/>
                          <a:ea typeface="함초롬돋움"/>
                          <a:cs typeface="함초롬돋움"/>
                        </a:rPr>
                        <a:t>자 내외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noFill/>
                      <a:prstDash val="solid"/>
                      <a:miter/>
                    </a:lnT>
                    <a:lnB w="12700" cap="flat" cmpd="sng" algn="ctr">
                      <a:solidFill>
                        <a:srgbClr val="920D1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그래픽 6" descr="연필">
            <a:extLst>
              <a:ext uri="{FF2B5EF4-FFF2-40B4-BE49-F238E27FC236}">
                <a16:creationId xmlns:a16="http://schemas.microsoft.com/office/drawing/2014/main" id="{BCFF58F0-0A99-4814-933A-32A7B25F2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1728" y="5598238"/>
            <a:ext cx="105617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*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독후감 텍스트는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?</a:t>
            </a:r>
          </a:p>
          <a:p>
            <a:pPr lvl="0">
              <a:defRPr/>
            </a:pPr>
            <a:r>
              <a:rPr lang="en-US" altLang="ko-KR" sz="28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*</a:t>
            </a:r>
            <a:r>
              <a:rPr lang="en-US" altLang="ko-KR" sz="2800" dirty="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 1~4</a:t>
            </a:r>
            <a:r>
              <a:rPr lang="ko-KR" altLang="en-US" sz="2800" dirty="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기 텍스트는 도서관 복사실에서 구입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12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F98D60-16E2-457B-8A18-986866D8D447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서강대학교 독후감이란</a:t>
            </a:r>
            <a:r>
              <a:rPr lang="en-US" altLang="ko-KR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D0B17-EE60-405E-A3CD-3DC3DBAB5524}"/>
              </a:ext>
            </a:extLst>
          </p:cNvPr>
          <p:cNvSpPr txBox="1"/>
          <p:nvPr/>
        </p:nvSpPr>
        <p:spPr>
          <a:xfrm>
            <a:off x="354131" y="1503534"/>
            <a:ext cx="116069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0000"/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텍스트와 논제를 숙지한 후에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</a:p>
          <a:p>
            <a:pPr defTabSz="540000"/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여러분들의 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언어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중심 문제를 탐색하고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</a:p>
          <a:p>
            <a:pPr defTabSz="540000"/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이에 대한 견해를 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논제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 맞게 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논증적으로</a:t>
            </a:r>
            <a:r>
              <a:rPr lang="en-US" altLang="ko-KR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28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쓰는 것</a:t>
            </a:r>
            <a:endParaRPr lang="en-US" altLang="ko-KR" sz="2800" dirty="0">
              <a:solidFill>
                <a:srgbClr val="920D14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defTabSz="540000"/>
            <a:endParaRPr lang="en-US" altLang="ko-KR" sz="2800" dirty="0"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  <a:p>
            <a:pPr defTabSz="540000">
              <a:lnSpc>
                <a:spcPct val="150000"/>
              </a:lnSpc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논증적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	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설득력을 갖춘 증거와 이유를 통해 여러분들의 주장을 관철하는 것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 defTabSz="540000">
              <a:lnSpc>
                <a:spcPct val="150000"/>
              </a:lnSpc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설득적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	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충분히 현실에서 가능한 이야기인지를 검토해보면서 진술하는 것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 defTabSz="540000">
              <a:lnSpc>
                <a:spcPct val="150000"/>
              </a:lnSpc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보편적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	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너무 개인적이지는 않아야 하며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누구나 그 입장에 어느 정도 공감할 수 있을 것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 defTabSz="540000">
              <a:lnSpc>
                <a:spcPct val="150000"/>
              </a:lnSpc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창의적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	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지나치게 공상적이지 않은 범위 내에서 개성을 지닌 작성자의 주장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 defTabSz="540000"/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또는 자료 조사를 통해 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누구나 다 아는 이야기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에서 새로운 대안 발견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5EE8B-69AA-4D37-94EF-A92E96B5808E}"/>
              </a:ext>
            </a:extLst>
          </p:cNvPr>
          <p:cNvSpPr txBox="1"/>
          <p:nvPr/>
        </p:nvSpPr>
        <p:spPr>
          <a:xfrm>
            <a:off x="8480024" y="560269"/>
            <a:ext cx="3581400" cy="1569660"/>
          </a:xfrm>
          <a:prstGeom prst="rect">
            <a:avLst/>
          </a:prstGeom>
          <a:solidFill>
            <a:srgbClr val="920D14"/>
          </a:solidFill>
        </p:spPr>
        <p:txBody>
          <a:bodyPr wrap="square" rtlCol="0" anchor="ctr">
            <a:spAutoFit/>
          </a:bodyPr>
          <a:lstStyle/>
          <a:p>
            <a:endParaRPr lang="en-US" altLang="ko-KR" sz="3200" dirty="0">
              <a:solidFill>
                <a:schemeClr val="bg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32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감상문이 아닙니다</a:t>
            </a:r>
            <a:r>
              <a:rPr lang="en-US" altLang="ko-KR" sz="32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!</a:t>
            </a:r>
          </a:p>
          <a:p>
            <a:endParaRPr lang="ko-KR" altLang="en-US" sz="3200" dirty="0">
              <a:solidFill>
                <a:schemeClr val="bg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8" name="그래픽 7" descr="연필">
            <a:extLst>
              <a:ext uri="{FF2B5EF4-FFF2-40B4-BE49-F238E27FC236}">
                <a16:creationId xmlns:a16="http://schemas.microsoft.com/office/drawing/2014/main" id="{CA915845-0E3A-4A84-A14D-EDE4FC930C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3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407" y="1634903"/>
            <a:ext cx="11048301" cy="2925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80000">
              <a:defRPr/>
            </a:pPr>
            <a:r>
              <a:rPr lang="ko-KR" altLang="en-US" sz="240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문제 의식을 예고하는 부분</a:t>
            </a:r>
            <a:r>
              <a:rPr lang="en-US" altLang="ko-KR" sz="240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. “</a:t>
            </a:r>
            <a:r>
              <a:rPr lang="ko-KR" altLang="en-US" sz="240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앞으로 어떻게 글을 풀어나갈 것인가</a:t>
            </a:r>
            <a:r>
              <a:rPr lang="en-US" altLang="ko-KR" sz="240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?”</a:t>
            </a:r>
          </a:p>
          <a:p>
            <a:pPr lvl="0" defTabSz="180000">
              <a:defRPr/>
            </a:pPr>
            <a:endParaRPr lang="en-US" altLang="ko-KR" sz="2400">
              <a:solidFill>
                <a:srgbClr val="920D14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defTabSz="180000">
              <a:buFont typeface="Wingdings"/>
              <a:buChar char="ü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독자의 흥미를 유발한다</a:t>
            </a:r>
          </a:p>
          <a:p>
            <a:pPr marL="342900" lvl="0" indent="-342900" defTabSz="180000">
              <a:buFont typeface="Wingdings"/>
              <a:buChar char="ü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글 전체를 관통하는 맥락을 소개한다</a:t>
            </a:r>
          </a:p>
          <a:p>
            <a:pPr marL="342900" lvl="0" indent="-342900" defTabSz="180000">
              <a:buFont typeface="Wingdings"/>
              <a:buChar char="ü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앞으로 본론에서 다룰 내용에 대한 문제제기가 이루어져야 한다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. </a:t>
            </a:r>
          </a:p>
          <a:p>
            <a:pPr lvl="0" defTabSz="180000">
              <a:defRPr/>
            </a:pPr>
            <a:endParaRPr lang="en-US" altLang="ko-KR" sz="2400">
              <a:latin typeface="함초롬돋움"/>
              <a:ea typeface="함초롬돋움"/>
              <a:cs typeface="함초롬돋움"/>
            </a:endParaRPr>
          </a:p>
          <a:p>
            <a:pPr marL="342900" lvl="0" indent="-342900" defTabSz="180000">
              <a:buFont typeface="Wingdings"/>
              <a:buChar char="ü"/>
              <a:defRPr/>
            </a:pPr>
            <a:endParaRPr lang="en-US" altLang="ko-KR" sz="2400">
              <a:latin typeface="함초롬돋움"/>
              <a:ea typeface="함초롬돋움"/>
              <a:cs typeface="함초롬돋움"/>
            </a:endParaRPr>
          </a:p>
          <a:p>
            <a:pPr lvl="0" defTabSz="18000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FD2D3-99E2-4FF1-92CE-4E7691406CA5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글의 구성</a:t>
            </a:r>
            <a:r>
              <a:rPr lang="en-US" altLang="ko-KR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서론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래픽 8" descr="연필">
            <a:extLst>
              <a:ext uri="{FF2B5EF4-FFF2-40B4-BE49-F238E27FC236}">
                <a16:creationId xmlns:a16="http://schemas.microsoft.com/office/drawing/2014/main" id="{2AC1D0F6-AC30-4E9A-8EEE-2E824ED37D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652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CD0B17-EE60-405E-A3CD-3DC3DBAB5524}"/>
              </a:ext>
            </a:extLst>
          </p:cNvPr>
          <p:cNvSpPr txBox="1"/>
          <p:nvPr/>
        </p:nvSpPr>
        <p:spPr>
          <a:xfrm>
            <a:off x="445407" y="1634903"/>
            <a:ext cx="1131796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서론에서 예고한 문제의식이 얼마나 설득력 있게 전개되는지를 확인할 수 있는 부분</a:t>
            </a:r>
            <a:r>
              <a:rPr lang="en-US" altLang="ko-KR" sz="24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논제를 정확히 파악하여 글을 전개해야 한다</a:t>
            </a:r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논제를 이해한 후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그에 대한 자신의 명확한 의견을 본론에서 논리적으로 전달할 것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각 문단의 주제문이 잘 드러나야 한다</a:t>
            </a:r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자신의 주장에 맞는 풍부한 논리와 근거를 제시해야 한다</a:t>
            </a:r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지나친 비약이나 주관의 객관화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텍스트 내용과 일대일로 대응시키는 빈약한 의견 표현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크게 중요하지 않은 내용을 자의적으로 확장시키는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소위 삼천포로 빠지는 등의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오류를 범하지 않도록 주의</a:t>
            </a:r>
            <a:endParaRPr lang="en-US" altLang="ko-KR" sz="2400" dirty="0">
              <a:solidFill>
                <a:schemeClr val="bg1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13548-4623-4C15-9249-FA0D2259B801}"/>
              </a:ext>
            </a:extLst>
          </p:cNvPr>
          <p:cNvSpPr txBox="1"/>
          <p:nvPr/>
        </p:nvSpPr>
        <p:spPr>
          <a:xfrm>
            <a:off x="1238774" y="26924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글의 구성</a:t>
            </a:r>
            <a:r>
              <a:rPr lang="en-US" altLang="ko-KR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본론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래픽 8" descr="연필">
            <a:extLst>
              <a:ext uri="{FF2B5EF4-FFF2-40B4-BE49-F238E27FC236}">
                <a16:creationId xmlns:a16="http://schemas.microsoft.com/office/drawing/2014/main" id="{80352388-647D-40B8-AA22-8BABE8862B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98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CD0B17-EE60-405E-A3CD-3DC3DBAB5524}"/>
              </a:ext>
            </a:extLst>
          </p:cNvPr>
          <p:cNvSpPr txBox="1"/>
          <p:nvPr/>
        </p:nvSpPr>
        <p:spPr>
          <a:xfrm>
            <a:off x="445408" y="1634903"/>
            <a:ext cx="1082266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0000"/>
            <a:r>
              <a:rPr lang="ko-KR" altLang="en-US" sz="2400" dirty="0">
                <a:solidFill>
                  <a:srgbClr val="920D14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글을 마무리 짓는 단계</a:t>
            </a:r>
            <a:endParaRPr lang="en-US" altLang="ko-KR" sz="2400" dirty="0">
              <a:solidFill>
                <a:srgbClr val="920D14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defTabSz="180000"/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 defTabSz="1800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본론에서 개진했던 의견과 주장을 짧게 종합하면서 앞으로의 전망을 제시한다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342900" indent="-342900" defTabSz="1800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분량은 서론과 동일하거나 조금 이상으로 구성한다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342900" indent="-342900" defTabSz="180000">
              <a:buFont typeface="Wingdings" panose="05000000000000000000" pitchFamily="2" charset="2"/>
              <a:buChar char="ü"/>
            </a:pP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본론의 내용을 갑자기 부정하면서 전혀 새로운 관점을 이야기하거나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본론에 포함되어야 할 내용을 쓰지 않도록 주의한다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 </a:t>
            </a:r>
          </a:p>
          <a:p>
            <a:pPr defTabSz="180000"/>
            <a:r>
              <a:rPr lang="en-US" altLang="ko-KR" sz="21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</a:t>
            </a:r>
            <a:endParaRPr lang="en-US" altLang="ko-KR" sz="10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defTabSz="180000"/>
            <a:r>
              <a:rPr lang="en-US" altLang="ko-KR" sz="21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110A8-90E2-45C2-9272-F6DA2AE99208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글의 구성</a:t>
            </a:r>
            <a:r>
              <a:rPr lang="en-US" altLang="ko-KR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결론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7" name="그래픽 6" descr="연필">
            <a:extLst>
              <a:ext uri="{FF2B5EF4-FFF2-40B4-BE49-F238E27FC236}">
                <a16:creationId xmlns:a16="http://schemas.microsoft.com/office/drawing/2014/main" id="{2A4383DB-7A22-47AC-9666-065FA6662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94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8028" y="2175510"/>
            <a:ext cx="10355944" cy="2670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텍스트와 논제를 잘 이해했는가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?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독후감의 주제가 명확하게 드러나는가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?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글이 합리적으로 구성되었는가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? (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문단 구성 등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)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주장에 대한 타당하고 논리적인 근거가 충분히 제시되었는가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?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글쓰기의 기본 소양이 갖춰졌는가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? (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맞춤법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띄어쓰기 등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어문규정의 준수 여부 등</a:t>
            </a:r>
            <a:r>
              <a:rPr lang="en-US" altLang="ko-KR" sz="2400">
                <a:latin typeface="함초롬돋움"/>
                <a:ea typeface="함초롬돋움"/>
                <a:cs typeface="함초롬돋움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EB052-43DE-425B-9B67-A021F57EC30B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평가 기준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8" name="그래픽 7" descr="연필">
            <a:extLst>
              <a:ext uri="{FF2B5EF4-FFF2-40B4-BE49-F238E27FC236}">
                <a16:creationId xmlns:a16="http://schemas.microsoft.com/office/drawing/2014/main" id="{F3757AD3-4AF4-4C68-8203-8815091CAB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10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EB052-43DE-425B-9B67-A021F57EC30B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맞춤법 검사기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8" name="그래픽 7" descr="연필">
            <a:extLst>
              <a:ext uri="{FF2B5EF4-FFF2-40B4-BE49-F238E27FC236}">
                <a16:creationId xmlns:a16="http://schemas.microsoft.com/office/drawing/2014/main" id="{F3757AD3-4AF4-4C68-8203-8815091CAB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89A3A9-4070-42CE-8BEB-208C13FF8DCA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BF3B1E-2E59-4335-A0A6-15E498AC3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42" y="1527175"/>
            <a:ext cx="6741191" cy="5194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C4066B-0CC2-491D-9EBA-03269B796C0A}"/>
              </a:ext>
            </a:extLst>
          </p:cNvPr>
          <p:cNvSpPr txBox="1"/>
          <p:nvPr/>
        </p:nvSpPr>
        <p:spPr>
          <a:xfrm>
            <a:off x="7153275" y="1371600"/>
            <a:ext cx="4315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한국어 맞춤법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문법 검사기</a:t>
            </a:r>
            <a:endParaRPr lang="en-US" altLang="ko-KR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5"/>
              </a:rPr>
              <a:t>https://speller.cs.pusan.ac.kr</a:t>
            </a:r>
            <a:endParaRPr lang="ko-KR" altLang="en-US" sz="24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07880" y="3147460"/>
            <a:ext cx="5117432" cy="2127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000" b="1">
                <a:solidFill>
                  <a:srgbClr val="B60005"/>
                </a:solidFill>
              </a:rPr>
              <a:t>참고사항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 sz="2400"/>
              <a:t>독후감 글자 수는 </a:t>
            </a:r>
            <a:r>
              <a:rPr lang="en-US" altLang="ko-KR" sz="2400"/>
              <a:t>[</a:t>
            </a:r>
            <a:r>
              <a:rPr lang="ko-KR" altLang="en-US" sz="2400"/>
              <a:t>맞춤법 검사기</a:t>
            </a:r>
            <a:r>
              <a:rPr lang="en-US" altLang="ko-KR" sz="2400"/>
              <a:t>]</a:t>
            </a:r>
            <a:r>
              <a:rPr lang="ko-KR" altLang="en-US" sz="2400"/>
              <a:t>가 아니라 </a:t>
            </a:r>
            <a:r>
              <a:rPr lang="en-US" altLang="ko-KR" sz="2400" b="1">
                <a:solidFill>
                  <a:srgbClr val="B60005"/>
                </a:solidFill>
              </a:rPr>
              <a:t>[</a:t>
            </a:r>
            <a:r>
              <a:rPr lang="ko-KR" altLang="en-US" sz="2400" b="1">
                <a:solidFill>
                  <a:srgbClr val="B60005"/>
                </a:solidFill>
              </a:rPr>
              <a:t>파일</a:t>
            </a:r>
            <a:r>
              <a:rPr lang="en-US" altLang="ko-KR" sz="2400" b="1">
                <a:solidFill>
                  <a:srgbClr val="B60005"/>
                </a:solidFill>
              </a:rPr>
              <a:t>&gt;</a:t>
            </a:r>
            <a:r>
              <a:rPr lang="ko-KR" altLang="en-US" sz="2400" b="1">
                <a:solidFill>
                  <a:srgbClr val="B60005"/>
                </a:solidFill>
              </a:rPr>
              <a:t>문서정보</a:t>
            </a:r>
            <a:r>
              <a:rPr lang="en-US" altLang="ko-KR" sz="2400" b="1">
                <a:solidFill>
                  <a:srgbClr val="B60005"/>
                </a:solidFill>
              </a:rPr>
              <a:t>&gt;</a:t>
            </a:r>
            <a:r>
              <a:rPr lang="ko-KR" altLang="en-US" sz="2400" b="1">
                <a:solidFill>
                  <a:srgbClr val="B60005"/>
                </a:solidFill>
              </a:rPr>
              <a:t>문서통계</a:t>
            </a:r>
          </a:p>
          <a:p>
            <a:pPr lvl="0">
              <a:defRPr/>
            </a:pPr>
            <a:r>
              <a:rPr lang="en-US" altLang="ko-KR" sz="2400" b="1">
                <a:solidFill>
                  <a:srgbClr val="B60005"/>
                </a:solidFill>
              </a:rPr>
              <a:t>&gt;</a:t>
            </a:r>
            <a:r>
              <a:rPr lang="ko-KR" altLang="en-US" sz="2400" b="1">
                <a:solidFill>
                  <a:srgbClr val="B60005"/>
                </a:solidFill>
              </a:rPr>
              <a:t>글자 수</a:t>
            </a:r>
            <a:r>
              <a:rPr lang="en-US" altLang="ko-KR" sz="2400" b="1">
                <a:solidFill>
                  <a:srgbClr val="B60005"/>
                </a:solidFill>
              </a:rPr>
              <a:t>(</a:t>
            </a:r>
            <a:r>
              <a:rPr lang="ko-KR" altLang="en-US" sz="2400" b="1">
                <a:solidFill>
                  <a:srgbClr val="B60005"/>
                </a:solidFill>
              </a:rPr>
              <a:t>공백포함</a:t>
            </a:r>
            <a:r>
              <a:rPr lang="en-US" altLang="ko-KR" sz="2400" b="1">
                <a:solidFill>
                  <a:srgbClr val="B60005"/>
                </a:solidFill>
              </a:rPr>
              <a:t>)]</a:t>
            </a:r>
            <a:r>
              <a:rPr lang="ko-KR" altLang="en-US" sz="2400"/>
              <a:t>에서 확인했을 때 더 정확합니다</a:t>
            </a:r>
            <a:r>
              <a:rPr lang="en-US" altLang="ko-KR" sz="240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60096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4701" y="1530718"/>
            <a:ext cx="1157255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단락을 구분하며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문단 시작 시 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‘</a:t>
            </a:r>
            <a:r>
              <a:rPr lang="ko-KR" altLang="en-US" sz="2400" dirty="0" err="1">
                <a:latin typeface="함초롬돋움"/>
                <a:ea typeface="함초롬돋움"/>
                <a:cs typeface="함초롬돋움"/>
              </a:rPr>
              <a:t>들여쓰기‘를</a:t>
            </a: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 해야 한다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반드시 개요를 작성한다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나무위키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네이버 지식인 등 전문성 없는 매체를 참고하지 않는다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글의 상당 분량이 텍스트의 내용 소개로만 이루어지지 않도록 한다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본인의 생각과 입장이 결론에서 뒤늦게 나오지 않도록 한다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FontTx/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감상문적 어조나 문장을 사용하지 않도록 한다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marL="396000" lvl="0" indent="-396000">
              <a:lnSpc>
                <a:spcPct val="90000"/>
              </a:lnSpc>
              <a:spcAft>
                <a:spcPts val="1200"/>
              </a:spcAft>
              <a:buFontTx/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텍스트를 인용할 때는 저자의 이름을 명시할 것 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(ex.</a:t>
            </a: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400" dirty="0" err="1">
                <a:latin typeface="함초롬돋움"/>
                <a:ea typeface="함초롬돋움"/>
                <a:cs typeface="함초롬돋움"/>
              </a:rPr>
              <a:t>도킨스에</a:t>
            </a: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 따르면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…)</a:t>
            </a:r>
          </a:p>
          <a:p>
            <a:pPr marL="396000" lvl="0" indent="-39600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FontTx/>
              <a:buAutoNum type="arabicPeriod"/>
              <a:defRPr/>
            </a:pPr>
            <a:r>
              <a:rPr kumimoji="0" lang="ko-KR" altLang="en-US" sz="2400" i="0" u="none" strike="noStrike" kern="1200" cap="none" spc="0" normalizeH="0" baseline="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다른 책이나 글, 인터넷 자료 등에서 인용 또는 참고하였을 경우 각주를 달아 출처를 반드시 밝힌다</a:t>
            </a:r>
            <a:r>
              <a:rPr kumimoji="0" lang="en-US" altLang="ko-KR" sz="2400" i="0" u="none" strike="noStrike" kern="1200" cap="none" spc="0" normalizeH="0" baseline="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.</a:t>
            </a:r>
          </a:p>
          <a:p>
            <a:pPr marL="396000" lvl="0" indent="-39600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FontTx/>
              <a:buAutoNum type="arabicPeriod"/>
              <a:defRPr/>
            </a:pPr>
            <a:r>
              <a:rPr lang="ko-KR" altLang="en-US" sz="2400" dirty="0">
                <a:latin typeface="함초롬돋움"/>
                <a:ea typeface="함초롬돋움"/>
                <a:cs typeface="함초롬돋움"/>
              </a:rPr>
              <a:t>글이 텍스트와 너무 거리가 멀거나 극단적인 경우를 피한다</a:t>
            </a:r>
            <a:r>
              <a:rPr lang="en-US" altLang="ko-KR" sz="2400" dirty="0">
                <a:latin typeface="함초롬돋움"/>
                <a:ea typeface="함초롬돋움"/>
                <a:cs typeface="함초롬돋움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EB052-43DE-425B-9B67-A021F57EC30B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작성 시 주의 사항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8" name="그래픽 7" descr="연필">
            <a:extLst>
              <a:ext uri="{FF2B5EF4-FFF2-40B4-BE49-F238E27FC236}">
                <a16:creationId xmlns:a16="http://schemas.microsoft.com/office/drawing/2014/main" id="{F3757AD3-4AF4-4C68-8203-8815091CAB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00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800" b="1">
                <a:solidFill>
                  <a:srgbClr val="5C5A59"/>
                </a:solidFill>
                <a:latin typeface="함초롬돋움"/>
                <a:ea typeface="함초롬돋움"/>
                <a:cs typeface="함초롬돋움"/>
              </a:rPr>
              <a:t>독후감 양식</a:t>
            </a:r>
            <a:r>
              <a:rPr lang="en-US" altLang="ko-KR" sz="4800" b="1">
                <a:solidFill>
                  <a:srgbClr val="5C5A59"/>
                </a:solidFill>
                <a:latin typeface="함초롬돋움"/>
                <a:ea typeface="함초롬돋움"/>
                <a:cs typeface="함초롬돋움"/>
              </a:rPr>
              <a:t>_</a:t>
            </a:r>
            <a:r>
              <a:rPr lang="ko-KR" altLang="en-US" sz="4800" b="1">
                <a:solidFill>
                  <a:srgbClr val="5C5A59"/>
                </a:solidFill>
                <a:latin typeface="함초롬돋움"/>
                <a:ea typeface="함초롬돋움"/>
                <a:cs typeface="함초롬돋움"/>
              </a:rPr>
              <a:t>표지</a:t>
            </a:r>
            <a:endParaRPr lang="en-US" altLang="ko-KR" sz="4800" b="1">
              <a:solidFill>
                <a:srgbClr val="5C5A59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7" name="그래픽 6" descr="연필">
            <a:extLst>
              <a:ext uri="{FF2B5EF4-FFF2-40B4-BE49-F238E27FC236}">
                <a16:creationId xmlns:a16="http://schemas.microsoft.com/office/drawing/2014/main" id="{C57B70D0-DD86-4ADA-9DD7-7607FB8022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l="13240" t="11310" r="7140" b="25660"/>
          <a:stretch>
            <a:fillRect/>
          </a:stretch>
        </p:blipFill>
        <p:spPr>
          <a:xfrm>
            <a:off x="467653" y="1275703"/>
            <a:ext cx="6077526" cy="6804505"/>
          </a:xfrm>
          <a:prstGeom prst="rect">
            <a:avLst/>
          </a:prstGeom>
        </p:spPr>
      </p:pic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2428875" y="1890462"/>
            <a:ext cx="914400" cy="247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609349" y="2279983"/>
            <a:ext cx="914400" cy="247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7"/>
          <p:cNvSpPr/>
          <p:nvPr/>
        </p:nvSpPr>
        <p:spPr>
          <a:xfrm>
            <a:off x="3741822" y="1499936"/>
            <a:ext cx="162426" cy="197517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82604" y="1442183"/>
            <a:ext cx="5610336" cy="29850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900">
                <a:latin typeface="함초롬돋움"/>
                <a:ea typeface="함초롬돋움"/>
                <a:cs typeface="함초롬돋움"/>
              </a:rPr>
              <a:t>&lt;</a:t>
            </a: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독후감 양식에는 다음 사항을 반드시 기입해야 함</a:t>
            </a:r>
            <a:r>
              <a:rPr lang="en-US" altLang="ko-KR" sz="1900">
                <a:latin typeface="함초롬돋움"/>
                <a:ea typeface="함초롬돋움"/>
                <a:cs typeface="함초롬돋움"/>
              </a:rPr>
              <a:t>&gt;</a:t>
            </a:r>
          </a:p>
          <a:p>
            <a:pPr lvl="0">
              <a:defRPr/>
            </a:pPr>
            <a:endParaRPr lang="en-US" altLang="ko-KR" sz="19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 sz="19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① 독후감 기수 </a:t>
            </a:r>
          </a:p>
          <a:p>
            <a:pPr lvl="0">
              <a:defRPr/>
            </a:pP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② </a:t>
            </a:r>
            <a:r>
              <a:rPr kumimoji="0" lang="ko-KR" altLang="en-US" sz="1900" b="0" i="0" u="none" strike="noStrike" kern="1200" cap="none" spc="0" normalizeH="0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제출자 인적 사항(학부, 분반, 학번, 이름)</a:t>
            </a:r>
            <a:endParaRPr lang="ko-KR" altLang="en-US" sz="1900"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③ </a:t>
            </a:r>
            <a:r>
              <a:rPr kumimoji="0" lang="ko-KR" altLang="en-US" sz="1900" b="0" i="0" u="none" strike="noStrike" kern="1200" cap="none" spc="0" normalizeH="0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담당 교수 이름 </a:t>
            </a: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900" b="0" i="0" u="none" strike="noStrike" kern="1200" cap="none" spc="0" normalizeH="0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④ 담당 조교 이름</a:t>
            </a:r>
            <a:endParaRPr lang="ko-KR" altLang="en-US" sz="1900"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⑤ </a:t>
            </a:r>
            <a:r>
              <a:rPr kumimoji="0" lang="ko-KR" altLang="en-US" sz="1900" b="0" i="0" u="none" strike="noStrike" kern="1200" cap="none" spc="0" normalizeH="0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대상 자료명</a:t>
            </a: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  </a:t>
            </a: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⑥ </a:t>
            </a:r>
            <a:r>
              <a:rPr kumimoji="0" lang="ko-KR" altLang="en-US" sz="1900" b="1" i="0" u="none" strike="noStrike" kern="1200" cap="none" spc="0" normalizeH="0" baseline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독후감 제목</a:t>
            </a:r>
            <a:endParaRPr lang="ko-KR" altLang="en-US" sz="19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⑦ </a:t>
            </a:r>
            <a:r>
              <a:rPr lang="ko-KR" altLang="en-US" sz="1900" b="1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글의 개요</a:t>
            </a:r>
            <a:r>
              <a:rPr lang="ko-KR" altLang="en-US" sz="1900">
                <a:latin typeface="함초롬돋움"/>
                <a:ea typeface="함초롬돋움"/>
                <a:cs typeface="함초롬돋움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745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7443" y="1757467"/>
            <a:ext cx="6140418" cy="3079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800">
                <a:latin typeface="함초롬돋움"/>
                <a:ea typeface="함초롬돋움"/>
                <a:cs typeface="함초롬돋움"/>
              </a:rPr>
              <a:t>1·3</a:t>
            </a: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기 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		        </a:t>
            </a:r>
          </a:p>
          <a:p>
            <a:pPr lvl="0">
              <a:defRPr/>
            </a:pP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1,500</a:t>
            </a:r>
            <a:r>
              <a:rPr lang="ko-KR" altLang="en-US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자 내외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(1,350</a:t>
            </a:r>
            <a:r>
              <a:rPr lang="ko-KR" altLang="en-US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~1,650</a:t>
            </a:r>
            <a:r>
              <a:rPr lang="ko-KR" altLang="en-US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)</a:t>
            </a:r>
          </a:p>
          <a:p>
            <a:pPr lvl="0">
              <a:defRPr/>
            </a:pPr>
            <a:endParaRPr lang="en-US" altLang="ko-KR" sz="2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 sz="2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 sz="2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2800">
                <a:latin typeface="함초롬돋움"/>
                <a:ea typeface="함초롬돋움"/>
                <a:cs typeface="함초롬돋움"/>
              </a:rPr>
              <a:t>2·4</a:t>
            </a: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기</a:t>
            </a:r>
            <a:r>
              <a:rPr lang="en-US" altLang="ko-KR" sz="2800">
                <a:latin typeface="함초롬돋움"/>
                <a:ea typeface="함초롬돋움"/>
                <a:cs typeface="함초롬돋움"/>
              </a:rPr>
              <a:t>			      </a:t>
            </a: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</a:t>
            </a:r>
            <a:endParaRPr lang="en-US" altLang="ko-KR" sz="2800">
              <a:solidFill>
                <a:srgbClr val="B60005"/>
              </a:solidFill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1,800</a:t>
            </a:r>
            <a:r>
              <a:rPr lang="ko-KR" altLang="en-US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내외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(1,620</a:t>
            </a:r>
            <a:r>
              <a:rPr lang="ko-KR" altLang="en-US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~1,980</a:t>
            </a:r>
            <a:r>
              <a:rPr lang="ko-KR" altLang="en-US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80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)  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7861" y="1992531"/>
            <a:ext cx="5744139" cy="3018775"/>
          </a:xfrm>
          <a:prstGeom prst="rect">
            <a:avLst/>
          </a:prstGeom>
          <a:solidFill>
            <a:srgbClr val="920D14"/>
          </a:solidFill>
        </p:spPr>
        <p:txBody>
          <a:bodyPr wrap="square" anchor="ctr">
            <a:spAutoFit/>
          </a:bodyPr>
          <a:lstStyle/>
          <a:p>
            <a:pPr lvl="0">
              <a:lnSpc>
                <a:spcPct val="110000"/>
              </a:lnSpc>
              <a:defRPr/>
            </a:pPr>
            <a:r>
              <a:rPr lang="en-US" altLang="ko-KR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*</a:t>
            </a:r>
            <a:r>
              <a:rPr lang="ko-KR" altLang="en-US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표지와 각주의 글자 수는 제외</a:t>
            </a:r>
            <a:r>
              <a:rPr lang="en-US" altLang="ko-KR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, </a:t>
            </a:r>
          </a:p>
          <a:p>
            <a:pPr lvl="0">
              <a:lnSpc>
                <a:spcPct val="110000"/>
              </a:lnSpc>
              <a:defRPr/>
            </a:pPr>
            <a:r>
              <a:rPr lang="ko-KR" altLang="en-US" sz="2500" u="sng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본문의 글자 수만</a:t>
            </a:r>
            <a:r>
              <a:rPr lang="ko-KR" altLang="en-US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점검</a:t>
            </a:r>
            <a:r>
              <a:rPr lang="en-US" altLang="ko-KR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>
              <a:lnSpc>
                <a:spcPct val="110000"/>
              </a:lnSpc>
              <a:defRPr/>
            </a:pPr>
            <a:endParaRPr lang="en-US" altLang="ko-KR" sz="2500" u="sng" dirty="0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lvl="0">
              <a:lnSpc>
                <a:spcPct val="110000"/>
              </a:lnSpc>
              <a:defRPr/>
            </a:pPr>
            <a:r>
              <a:rPr lang="en-US" altLang="ko-KR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*</a:t>
            </a:r>
            <a:r>
              <a:rPr lang="ko-KR" altLang="en-US" sz="2500" u="sng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공백 포함 글자 수</a:t>
            </a:r>
            <a:r>
              <a:rPr lang="ko-KR" altLang="en-US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입니다</a:t>
            </a:r>
            <a:r>
              <a:rPr lang="en-US" altLang="ko-KR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>
              <a:lnSpc>
                <a:spcPct val="110000"/>
              </a:lnSpc>
              <a:defRPr/>
            </a:pPr>
            <a:endParaRPr lang="en-US" altLang="ko-KR" sz="2500" dirty="0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lvl="0">
              <a:lnSpc>
                <a:spcPct val="110000"/>
              </a:lnSpc>
              <a:defRPr/>
            </a:pPr>
            <a:endParaRPr lang="en-US" altLang="ko-KR" sz="2500" dirty="0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lvl="0">
              <a:lnSpc>
                <a:spcPct val="110000"/>
              </a:lnSpc>
              <a:defRPr/>
            </a:pPr>
            <a:r>
              <a:rPr lang="en-US" altLang="ko-KR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*</a:t>
            </a:r>
            <a:r>
              <a:rPr lang="ko-KR" altLang="en-US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독후감 </a:t>
            </a:r>
            <a:r>
              <a:rPr lang="ko-KR" altLang="en-US" sz="2500" u="sng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본문 마지막에 글자 수 기입</a:t>
            </a:r>
            <a:r>
              <a:rPr lang="en-US" altLang="ko-KR" sz="25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AD1C3-FF5C-4D63-8298-A56FCC64C627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양식</a:t>
            </a:r>
            <a:r>
              <a:rPr lang="en-US" altLang="ko-KR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분량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4" name="그래픽 13" descr="연필">
            <a:extLst>
              <a:ext uri="{FF2B5EF4-FFF2-40B4-BE49-F238E27FC236}">
                <a16:creationId xmlns:a16="http://schemas.microsoft.com/office/drawing/2014/main" id="{800B599D-CEA2-41C0-9867-5D511BFD08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396288" y="1915024"/>
            <a:ext cx="6065922" cy="2370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 sz="2400">
              <a:latin typeface="함초롬돋움"/>
              <a:ea typeface="함초롬돋움"/>
              <a:cs typeface="함초롬돋움"/>
              <a:sym typeface="Wingdings"/>
            </a:endParaRPr>
          </a:p>
          <a:p>
            <a:pPr lvl="0" defTabSz="359999">
              <a:spcAft>
                <a:spcPts val="1200"/>
              </a:spcAft>
              <a:defRPr/>
            </a:pPr>
            <a:endParaRPr lang="ko-KR" altLang="en-US" sz="2400">
              <a:latin typeface="함초롬돋움"/>
              <a:ea typeface="함초롬돋움"/>
              <a:cs typeface="함초롬돋움"/>
              <a:sym typeface="Wingdings"/>
            </a:endParaRPr>
          </a:p>
          <a:p>
            <a:pPr lvl="0" defTabSz="359999">
              <a:spcAft>
                <a:spcPts val="1200"/>
              </a:spcAft>
              <a:defRPr/>
            </a:pPr>
            <a:r>
              <a:rPr lang="en-US" altLang="ko-KR" sz="2400">
                <a:latin typeface="함초롬돋움"/>
                <a:ea typeface="함초롬돋움"/>
                <a:cs typeface="함초롬돋움"/>
                <a:sym typeface="Wingdings"/>
              </a:rPr>
              <a:t> 1,350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자 미만 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→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 불통과</a:t>
            </a:r>
          </a:p>
          <a:p>
            <a:pPr lvl="0" defTabSz="359999">
              <a:spcAft>
                <a:spcPts val="1200"/>
              </a:spcAft>
              <a:defRPr/>
            </a:pPr>
            <a:r>
              <a:rPr lang="en-US" altLang="ko-KR" sz="2400">
                <a:latin typeface="함초롬돋움"/>
                <a:ea typeface="함초롬돋움"/>
                <a:cs typeface="함초롬돋움"/>
                <a:sym typeface="Wingdings"/>
              </a:rPr>
              <a:t> 1,000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자 이하 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→ 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미제출</a:t>
            </a:r>
          </a:p>
          <a:p>
            <a:pPr lvl="0">
              <a:defRPr/>
            </a:pPr>
            <a:endParaRPr lang="ko-KR" altLang="en-US" sz="2400">
              <a:latin typeface="함초롬돋움"/>
              <a:ea typeface="함초롬돋움"/>
              <a:cs typeface="함초롬돋움"/>
              <a:sym typeface="Wingding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1591" y="4554455"/>
            <a:ext cx="5003131" cy="148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59999">
              <a:spcAft>
                <a:spcPts val="1200"/>
              </a:spcAft>
              <a:defRPr/>
            </a:pPr>
            <a:endParaRPr lang="en-US" altLang="ko-KR" sz="2400">
              <a:latin typeface="함초롬돋움"/>
              <a:ea typeface="함초롬돋움"/>
              <a:cs typeface="함초롬돋움"/>
              <a:sym typeface="Wingdings"/>
            </a:endParaRPr>
          </a:p>
          <a:p>
            <a:pPr lvl="0" defTabSz="359999">
              <a:spcAft>
                <a:spcPts val="1200"/>
              </a:spcAft>
              <a:defRPr/>
            </a:pPr>
            <a:r>
              <a:rPr lang="en-US" altLang="ko-KR" sz="2400">
                <a:latin typeface="함초롬돋움"/>
                <a:ea typeface="함초롬돋움"/>
                <a:cs typeface="함초롬돋움"/>
                <a:sym typeface="Wingdings"/>
              </a:rPr>
              <a:t> 1,620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자 미만 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→ 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불통과</a:t>
            </a:r>
          </a:p>
          <a:p>
            <a:pPr lvl="0" defTabSz="359999">
              <a:spcAft>
                <a:spcPts val="1200"/>
              </a:spcAft>
              <a:defRPr/>
            </a:pPr>
            <a:r>
              <a:rPr lang="en-US" altLang="ko-KR" sz="2400">
                <a:latin typeface="함초롬돋움"/>
                <a:ea typeface="함초롬돋움"/>
                <a:cs typeface="함초롬돋움"/>
                <a:sym typeface="Wingdings"/>
              </a:rPr>
              <a:t> 1,200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자 이하 </a:t>
            </a:r>
            <a:r>
              <a:rPr lang="ko-KR" altLang="en-US" sz="2400">
                <a:latin typeface="함초롬돋움"/>
                <a:ea typeface="함초롬돋움"/>
                <a:cs typeface="함초롬돋움"/>
              </a:rPr>
              <a:t>→ </a:t>
            </a:r>
            <a:r>
              <a:rPr lang="ko-KR" altLang="en-US" sz="2400">
                <a:latin typeface="함초롬돋움"/>
                <a:ea typeface="함초롬돋움"/>
                <a:cs typeface="함초롬돋움"/>
                <a:sym typeface="Wingdings"/>
              </a:rPr>
              <a:t>미제출</a:t>
            </a:r>
          </a:p>
        </p:txBody>
      </p:sp>
    </p:spTree>
    <p:extLst>
      <p:ext uri="{BB962C8B-B14F-4D97-AF65-F5344CB8AC3E}">
        <p14:creationId xmlns:p14="http://schemas.microsoft.com/office/powerpoint/2010/main" val="123861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407" y="1634903"/>
            <a:ext cx="11048301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79999">
              <a:spcAft>
                <a:spcPts val="1200"/>
              </a:spcAft>
              <a:defRPr/>
            </a:pPr>
            <a:r>
              <a:rPr lang="en-US" altLang="ko-KR" sz="2100" dirty="0">
                <a:latin typeface="netmarble Medium"/>
                <a:ea typeface="netmarble Medium"/>
              </a:rPr>
              <a:t>·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	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독후감은 컴퓨터로 작성합니다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 defTabSz="179999">
              <a:spcAft>
                <a:spcPts val="1200"/>
              </a:spcAft>
              <a:defRPr/>
            </a:pP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·	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사이버캠퍼스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[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공지사항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]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에 업로드 된 </a:t>
            </a: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표지 파일을 반드시 사용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합니다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 defTabSz="179999">
              <a:spcAft>
                <a:spcPts val="1200"/>
              </a:spcAft>
              <a:defRPr/>
            </a:pP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·	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완성된 독후감은 </a:t>
            </a: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제출일 </a:t>
            </a:r>
            <a:r>
              <a:rPr lang="en-US" altLang="ko-KR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18:00</a:t>
            </a: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까지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정확한 과제 게시판에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제출합니다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.</a:t>
            </a:r>
            <a:br>
              <a:rPr lang="en-US" altLang="ko-KR" sz="2100" dirty="0">
                <a:latin typeface="함초롬돋움"/>
                <a:ea typeface="함초롬돋움"/>
                <a:cs typeface="함초롬돋움"/>
              </a:rPr>
            </a:b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			18:00 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이후 제출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: 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제출 가능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감점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지각 처리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)</a:t>
            </a:r>
            <a:br>
              <a:rPr lang="en-US" altLang="ko-KR" sz="2100" dirty="0">
                <a:latin typeface="함초롬돋움"/>
                <a:ea typeface="함초롬돋움"/>
                <a:cs typeface="함초롬돋움"/>
              </a:rPr>
            </a:b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			19:00 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이후 제출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: 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제출 불가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감점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100" dirty="0" err="1">
                <a:latin typeface="함초롬돋움"/>
                <a:ea typeface="함초롬돋움"/>
                <a:cs typeface="함초롬돋움"/>
              </a:rPr>
              <a:t>미제출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처리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)</a:t>
            </a:r>
          </a:p>
          <a:p>
            <a:pPr lvl="0" defTabSz="179999">
              <a:spcAft>
                <a:spcPts val="1200"/>
              </a:spcAft>
              <a:defRPr/>
            </a:pP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·	</a:t>
            </a: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불통과 독후감 및 </a:t>
            </a:r>
            <a:r>
              <a:rPr lang="ko-KR" altLang="en-US" sz="2100" dirty="0" err="1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미제출</a:t>
            </a: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 독후감은</a:t>
            </a:r>
            <a:r>
              <a:rPr lang="en-US" altLang="ko-KR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다음 기수 제출일에 함께 제출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합니다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.</a:t>
            </a:r>
            <a:br>
              <a:rPr lang="en-US" altLang="ko-KR" sz="2100" dirty="0">
                <a:latin typeface="함초롬돋움"/>
                <a:ea typeface="함초롬돋움"/>
                <a:cs typeface="함초롬돋움"/>
              </a:rPr>
            </a:b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			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제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4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기 독후감 </a:t>
            </a:r>
            <a:r>
              <a:rPr lang="ko-KR" altLang="en-US" sz="2100" dirty="0" err="1">
                <a:latin typeface="함초롬돋움"/>
                <a:ea typeface="함초롬돋움"/>
                <a:cs typeface="함초롬돋움"/>
              </a:rPr>
              <a:t>재제출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기한은 </a:t>
            </a:r>
            <a:r>
              <a:rPr lang="en-US" altLang="ko-KR" sz="2100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6/08 (</a:t>
            </a:r>
            <a:r>
              <a:rPr lang="ko-KR" altLang="en-US" sz="2100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토</a:t>
            </a:r>
            <a:r>
              <a:rPr lang="en-US" altLang="ko-KR" sz="2100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)</a:t>
            </a:r>
            <a:r>
              <a:rPr lang="ko-KR" altLang="en-US" sz="2100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23:59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지각제출 불가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)</a:t>
            </a:r>
          </a:p>
          <a:p>
            <a:pPr lvl="0" defTabSz="179999">
              <a:spcAft>
                <a:spcPts val="1200"/>
              </a:spcAft>
              <a:defRPr/>
            </a:pP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·	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서버 장애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통신 장애 등의 사정은 참작되지 않습니다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.</a:t>
            </a:r>
            <a:br>
              <a:rPr lang="en-US" altLang="ko-KR" sz="2100" dirty="0">
                <a:latin typeface="함초롬돋움"/>
                <a:ea typeface="함초롬돋움"/>
                <a:cs typeface="함초롬돋움"/>
              </a:rPr>
            </a:b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	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제출 마감 시각보다 여유를 두고 제출하세요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49696-D3D8-4CA4-872B-93BDB353C7D5}"/>
              </a:ext>
            </a:extLst>
          </p:cNvPr>
          <p:cNvSpPr txBox="1"/>
          <p:nvPr/>
        </p:nvSpPr>
        <p:spPr>
          <a:xfrm>
            <a:off x="1238774" y="230745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제출 방법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7" name="그래픽 6" descr="연필">
            <a:extLst>
              <a:ext uri="{FF2B5EF4-FFF2-40B4-BE49-F238E27FC236}">
                <a16:creationId xmlns:a16="http://schemas.microsoft.com/office/drawing/2014/main" id="{806118C4-7D49-4CDD-9CDF-F90EEA83DF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58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712C958-6143-4FD8-9B20-87E584C07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96" y="1542331"/>
            <a:ext cx="9045724" cy="240050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353BC37-9E1F-48AD-9FF0-8969A1AC4337}"/>
              </a:ext>
            </a:extLst>
          </p:cNvPr>
          <p:cNvSpPr/>
          <p:nvPr/>
        </p:nvSpPr>
        <p:spPr>
          <a:xfrm>
            <a:off x="711696" y="4168658"/>
            <a:ext cx="7253156" cy="2109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0000"/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1기 독후감 제출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: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[1기 독후감 제출]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게시판에 첨부파일로 제출</a:t>
            </a:r>
          </a:p>
          <a:p>
            <a:pPr defTabSz="180000"/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1기 불통과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재제출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: [1기 불통과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재제출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]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게시판에 첨부파일로 제출</a:t>
            </a:r>
          </a:p>
          <a:p>
            <a:pPr defTabSz="180000"/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1기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미제출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제출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[1기 </a:t>
            </a:r>
            <a:r>
              <a:rPr lang="ko-KR" altLang="en-US" sz="16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미제출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제출]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게시판에 첨부파일로 제출</a:t>
            </a:r>
          </a:p>
          <a:p>
            <a:pPr defTabSz="180000"/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2기 독후감 제출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[2기 독후감 제출]</a:t>
            </a:r>
            <a:r>
              <a:rPr lang="en-US" altLang="ko-KR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</a:t>
            </a:r>
            <a:r>
              <a:rPr lang="ko-KR" altLang="en-US" sz="16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게시판에 첨부파일로 제출</a:t>
            </a:r>
            <a:endParaRPr lang="en-US" altLang="ko-KR" sz="16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defTabSz="180000"/>
            <a:endParaRPr lang="en-US" altLang="ko-KR" sz="2000" dirty="0"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  <a:p>
            <a:pPr algn="ctr" defTabSz="180000">
              <a:lnSpc>
                <a:spcPct val="70000"/>
              </a:lnSpc>
            </a:pPr>
            <a:r>
              <a:rPr lang="en-US" altLang="ko-KR" sz="2000" dirty="0">
                <a:latin typeface="netmarble Bold" panose="02020803020101020101" pitchFamily="18" charset="-127"/>
                <a:ea typeface="netmarble Bold" panose="02020803020101020101" pitchFamily="18" charset="-127"/>
              </a:rPr>
              <a:t>·</a:t>
            </a:r>
            <a:br>
              <a:rPr lang="en-US" altLang="ko-KR" sz="2000" dirty="0">
                <a:latin typeface="netmarble Bold" panose="02020803020101020101" pitchFamily="18" charset="-127"/>
                <a:ea typeface="netmarble Bold" panose="02020803020101020101" pitchFamily="18" charset="-127"/>
              </a:rPr>
            </a:br>
            <a:r>
              <a:rPr lang="en-US" altLang="ko-KR" sz="2000" dirty="0">
                <a:latin typeface="netmarble Bold" panose="02020803020101020101" pitchFamily="18" charset="-127"/>
                <a:ea typeface="netmarble Bold" panose="02020803020101020101" pitchFamily="18" charset="-127"/>
              </a:rPr>
              <a:t>·</a:t>
            </a:r>
            <a:br>
              <a:rPr lang="en-US" altLang="ko-KR" sz="2000" dirty="0">
                <a:latin typeface="netmarble Bold" panose="02020803020101020101" pitchFamily="18" charset="-127"/>
                <a:ea typeface="netmarble Bold" panose="02020803020101020101" pitchFamily="18" charset="-127"/>
              </a:rPr>
            </a:br>
            <a:r>
              <a:rPr lang="en-US" altLang="ko-KR" sz="2000" dirty="0">
                <a:latin typeface="netmarble Bold" panose="02020803020101020101" pitchFamily="18" charset="-127"/>
                <a:ea typeface="netmarble Bold" panose="02020803020101020101" pitchFamily="18" charset="-127"/>
              </a:rPr>
              <a:t>·</a:t>
            </a:r>
            <a:endParaRPr lang="ko-KR" altLang="en-US" sz="2000" dirty="0">
              <a:latin typeface="netmarble Bold" panose="02020803020101020101" pitchFamily="18" charset="-127"/>
              <a:ea typeface="netmarble Bold" panose="020208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3BA31-B0C5-4B04-988B-663EDADA907A}"/>
              </a:ext>
            </a:extLst>
          </p:cNvPr>
          <p:cNvSpPr txBox="1"/>
          <p:nvPr/>
        </p:nvSpPr>
        <p:spPr>
          <a:xfrm>
            <a:off x="902855" y="5459775"/>
            <a:ext cx="5657965" cy="1077218"/>
          </a:xfrm>
          <a:prstGeom prst="rect">
            <a:avLst/>
          </a:prstGeom>
          <a:solidFill>
            <a:srgbClr val="920D14"/>
          </a:solidFill>
        </p:spPr>
        <p:txBody>
          <a:bodyPr wrap="square" rtlCol="0" anchor="ctr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 게시판에 독후감 두 편을</a:t>
            </a:r>
            <a:endParaRPr lang="en-US" altLang="ko-KR" sz="3200" dirty="0">
              <a:solidFill>
                <a:schemeClr val="bg1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32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한꺼번에 제출하면 안 됩니다</a:t>
            </a:r>
            <a:r>
              <a:rPr lang="en-US" altLang="ko-KR" sz="32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!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D9AB0-DEDA-4665-9812-0086642CA14C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제출 방법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1" name="그래픽 10" descr="연필">
            <a:extLst>
              <a:ext uri="{FF2B5EF4-FFF2-40B4-BE49-F238E27FC236}">
                <a16:creationId xmlns:a16="http://schemas.microsoft.com/office/drawing/2014/main" id="{54D5BB8B-F23E-4C94-89C1-7F22A26035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36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407" y="2297634"/>
            <a:ext cx="1140484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텍스트</a:t>
            </a:r>
          </a:p>
          <a:p>
            <a:pPr algn="just">
              <a:defRPr/>
            </a:pPr>
            <a:r>
              <a:rPr lang="ko-KR" altLang="en-US" sz="2400" b="1" dirty="0">
                <a:effectLst/>
                <a:latin typeface="Helvetica" pitchFamily="2" charset="0"/>
              </a:rPr>
              <a:t>로버트 </a:t>
            </a:r>
            <a:r>
              <a:rPr lang="en-US" altLang="ko-KR" sz="2400" b="1" dirty="0">
                <a:effectLst/>
                <a:latin typeface="Helvetica" pitchFamily="2" charset="0"/>
              </a:rPr>
              <a:t>&amp; </a:t>
            </a:r>
            <a:r>
              <a:rPr lang="ko-KR" altLang="en-US" sz="2400" b="1" dirty="0">
                <a:effectLst/>
                <a:latin typeface="Helvetica" pitchFamily="2" charset="0"/>
              </a:rPr>
              <a:t>미셸 </a:t>
            </a:r>
            <a:r>
              <a:rPr lang="ko-KR" altLang="en-US" sz="2400" b="1" dirty="0" err="1">
                <a:effectLst/>
                <a:latin typeface="Helvetica" pitchFamily="2" charset="0"/>
              </a:rPr>
              <a:t>루트번스타인</a:t>
            </a:r>
            <a:r>
              <a:rPr lang="en-US" altLang="ko-KR" sz="2400" b="1" dirty="0">
                <a:effectLst/>
                <a:latin typeface="Helvetica" pitchFamily="2" charset="0"/>
              </a:rPr>
              <a:t>, 『</a:t>
            </a:r>
            <a:r>
              <a:rPr lang="ko-KR" altLang="en-US" sz="2400" b="1" dirty="0">
                <a:effectLst/>
                <a:latin typeface="Helvetica" pitchFamily="2" charset="0"/>
              </a:rPr>
              <a:t>생각의 탄생</a:t>
            </a:r>
            <a:r>
              <a:rPr lang="en-US" altLang="ko-KR" sz="2400" b="1" dirty="0">
                <a:effectLst/>
                <a:latin typeface="Helvetica" pitchFamily="2" charset="0"/>
              </a:rPr>
              <a:t>』(</a:t>
            </a:r>
            <a:r>
              <a:rPr lang="ko-KR" altLang="en-US" sz="2400" b="1" dirty="0">
                <a:effectLst/>
                <a:latin typeface="Helvetica" pitchFamily="2" charset="0"/>
              </a:rPr>
              <a:t>박종성 옮김</a:t>
            </a:r>
            <a:r>
              <a:rPr lang="en-US" altLang="ko-KR" sz="2400" b="1" dirty="0">
                <a:effectLst/>
                <a:latin typeface="Helvetica" pitchFamily="2" charset="0"/>
              </a:rPr>
              <a:t>), </a:t>
            </a:r>
            <a:r>
              <a:rPr lang="ko-KR" altLang="en-US" sz="2400" b="1" dirty="0" err="1">
                <a:effectLst/>
                <a:latin typeface="Helvetica" pitchFamily="2" charset="0"/>
              </a:rPr>
              <a:t>에코의서재</a:t>
            </a:r>
            <a:r>
              <a:rPr lang="en-US" altLang="ko-KR" sz="2400" b="1" dirty="0">
                <a:effectLst/>
                <a:latin typeface="Helvetica" pitchFamily="2" charset="0"/>
              </a:rPr>
              <a:t>, 2007. </a:t>
            </a:r>
          </a:p>
          <a:p>
            <a:pPr algn="just">
              <a:defRPr/>
            </a:pPr>
            <a:r>
              <a:rPr lang="en-US" altLang="ko-KR" sz="2400" b="1" dirty="0">
                <a:effectLst/>
                <a:latin typeface="Helvetica" pitchFamily="2" charset="0"/>
              </a:rPr>
              <a:t>“</a:t>
            </a:r>
            <a:r>
              <a:rPr lang="ko-KR" altLang="en-US" sz="2400" b="1" dirty="0">
                <a:effectLst/>
                <a:latin typeface="Helvetica" pitchFamily="2" charset="0"/>
              </a:rPr>
              <a:t>생각의 도구</a:t>
            </a:r>
            <a:r>
              <a:rPr lang="en-US" altLang="ko-KR" sz="2400" b="1" dirty="0">
                <a:effectLst/>
                <a:latin typeface="Helvetica" pitchFamily="2" charset="0"/>
              </a:rPr>
              <a:t>1 – </a:t>
            </a:r>
            <a:r>
              <a:rPr lang="ko-KR" altLang="en-US" sz="2400" b="1" dirty="0">
                <a:effectLst/>
                <a:latin typeface="Helvetica" pitchFamily="2" charset="0"/>
              </a:rPr>
              <a:t>관찰</a:t>
            </a:r>
            <a:r>
              <a:rPr lang="en-US" altLang="ko-KR" sz="2400" b="1" dirty="0">
                <a:effectLst/>
                <a:latin typeface="Helvetica" pitchFamily="2" charset="0"/>
              </a:rPr>
              <a:t>”</a:t>
            </a:r>
            <a:r>
              <a:rPr lang="ko-KR" altLang="en-US" sz="2400" b="1" dirty="0">
                <a:effectLst/>
                <a:latin typeface="Helvetica" pitchFamily="2" charset="0"/>
              </a:rPr>
              <a:t> </a:t>
            </a:r>
            <a:r>
              <a:rPr lang="en-US" altLang="ko-KR" sz="2400" b="1" dirty="0">
                <a:effectLst/>
                <a:latin typeface="Helvetica" pitchFamily="2" charset="0"/>
              </a:rPr>
              <a:t>55~80</a:t>
            </a:r>
            <a:r>
              <a:rPr lang="ko-KR" altLang="en-US" sz="2400" b="1" dirty="0">
                <a:effectLst/>
                <a:latin typeface="Helvetica" pitchFamily="2" charset="0"/>
              </a:rPr>
              <a:t>쪽</a:t>
            </a:r>
            <a:r>
              <a:rPr lang="en-US" altLang="ko-KR" sz="2400" b="1" dirty="0">
                <a:effectLst/>
                <a:latin typeface="Helvetica" pitchFamily="2" charset="0"/>
              </a:rPr>
              <a:t>.</a:t>
            </a:r>
          </a:p>
          <a:p>
            <a:pPr lvl="0" algn="just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 algn="just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논제</a:t>
            </a:r>
            <a:endParaRPr lang="en-US" altLang="ko-KR" sz="2100" dirty="0">
              <a:solidFill>
                <a:srgbClr val="002060"/>
              </a:solidFill>
              <a:latin typeface="함초롬돋움"/>
              <a:ea typeface="함초롬돋움"/>
              <a:cs typeface="함초롬돋움"/>
            </a:endParaRPr>
          </a:p>
          <a:p>
            <a:pPr algn="just">
              <a:defRPr/>
            </a:pPr>
            <a:r>
              <a:rPr lang="ko-KR" altLang="en-US" sz="2100" kern="0" spc="-2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☞ </a:t>
            </a:r>
            <a:r>
              <a:rPr lang="ko-KR" altLang="en-US" sz="2400" dirty="0">
                <a:effectLst/>
                <a:latin typeface="Helvetica" pitchFamily="2" charset="0"/>
              </a:rPr>
              <a:t>텍스트에 서술된 적극적인 관찰의 개념을 간략히 정리하고</a:t>
            </a:r>
            <a:r>
              <a:rPr lang="en-US" altLang="ko-KR" sz="2400" dirty="0">
                <a:effectLst/>
                <a:latin typeface="Helvetica" pitchFamily="2" charset="0"/>
              </a:rPr>
              <a:t>, </a:t>
            </a:r>
            <a:r>
              <a:rPr lang="ko-KR" altLang="en-US" sz="2400" dirty="0">
                <a:effectLst/>
                <a:latin typeface="Helvetica" pitchFamily="2" charset="0"/>
              </a:rPr>
              <a:t>자신에게 의미 있었던 관찰의 경험을 중심으로 삶 혹은 학문에 있어서 관찰의 가치에 관해 </a:t>
            </a:r>
            <a:r>
              <a:rPr lang="ko-KR" altLang="en-US" sz="2400" dirty="0" err="1">
                <a:effectLst/>
                <a:latin typeface="Helvetica" pitchFamily="2" charset="0"/>
              </a:rPr>
              <a:t>서술하시오</a:t>
            </a:r>
            <a:r>
              <a:rPr lang="en-US" altLang="ko-KR" sz="2400" dirty="0">
                <a:effectLst/>
                <a:latin typeface="Helvetica" pitchFamily="2" charset="0"/>
              </a:rPr>
              <a:t>.</a:t>
            </a:r>
            <a:r>
              <a:rPr lang="ko-KR" altLang="en-US" sz="2400" dirty="0">
                <a:effectLst/>
                <a:latin typeface="Helvetica" pitchFamily="2" charset="0"/>
              </a:rPr>
              <a:t> </a:t>
            </a:r>
            <a:r>
              <a:rPr lang="en-US" altLang="ko-KR" sz="2100" kern="0" spc="-2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(1,500</a:t>
            </a:r>
            <a:r>
              <a:rPr lang="ko-KR" altLang="en-US" sz="2100" kern="0" spc="-2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100" kern="0" spc="-2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34806-E9D3-4716-B678-1CD35607D7EE}"/>
              </a:ext>
            </a:extLst>
          </p:cNvPr>
          <p:cNvSpPr/>
          <p:nvPr/>
        </p:nvSpPr>
        <p:spPr>
          <a:xfrm>
            <a:off x="512519" y="1384183"/>
            <a:ext cx="2223082" cy="8126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 독후감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735601" y="1384183"/>
            <a:ext cx="6096000" cy="83099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lvl="0">
              <a:defRPr/>
            </a:pP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제출일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23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일 토요일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18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:00</a:t>
            </a:r>
          </a:p>
          <a:p>
            <a:pPr lvl="0">
              <a:defRPr/>
            </a:pPr>
            <a:r>
              <a:rPr lang="ko-KR" altLang="en-US" sz="2400" dirty="0" err="1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미제출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혹은 </a:t>
            </a:r>
            <a:r>
              <a:rPr lang="ko-KR" altLang="en-US" sz="2400" dirty="0" err="1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재제출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4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13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일 토요일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18:00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7763C-760E-4690-AA19-D3BA1659A51F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텍스트 및 논제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8" name="그래픽 7" descr="연필">
            <a:extLst>
              <a:ext uri="{FF2B5EF4-FFF2-40B4-BE49-F238E27FC236}">
                <a16:creationId xmlns:a16="http://schemas.microsoft.com/office/drawing/2014/main" id="{6FFE7C7A-C37C-40E0-A62E-43FBBD4D0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42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407" y="2297634"/>
            <a:ext cx="1090839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 algn="just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텍스트</a:t>
            </a:r>
          </a:p>
          <a:p>
            <a:pPr algn="just"/>
            <a:r>
              <a:rPr lang="ko-KR" altLang="en-US" sz="2400" b="1" dirty="0">
                <a:effectLst/>
                <a:latin typeface="Helvetica" pitchFamily="2" charset="0"/>
              </a:rPr>
              <a:t>토머스 모어</a:t>
            </a:r>
            <a:r>
              <a:rPr lang="en-US" altLang="ko-KR" sz="2400" b="1" dirty="0">
                <a:effectLst/>
                <a:latin typeface="Helvetica" pitchFamily="2" charset="0"/>
              </a:rPr>
              <a:t>, 『</a:t>
            </a:r>
            <a:r>
              <a:rPr lang="ko-KR" altLang="en-US" sz="2400" b="1" dirty="0">
                <a:latin typeface="Helvetica" pitchFamily="2" charset="0"/>
              </a:rPr>
              <a:t>유토피아</a:t>
            </a:r>
            <a:r>
              <a:rPr lang="en-US" altLang="ko-KR" sz="2400" b="1" dirty="0">
                <a:effectLst/>
                <a:latin typeface="Helvetica" pitchFamily="2" charset="0"/>
              </a:rPr>
              <a:t>』(</a:t>
            </a:r>
            <a:r>
              <a:rPr lang="ko-KR" altLang="en-US" sz="2400" b="1" dirty="0" err="1">
                <a:effectLst/>
                <a:latin typeface="Helvetica" pitchFamily="2" charset="0"/>
              </a:rPr>
              <a:t>주경철</a:t>
            </a:r>
            <a:r>
              <a:rPr lang="ko-KR" altLang="en-US" sz="2400" b="1" dirty="0">
                <a:effectLst/>
                <a:latin typeface="Helvetica" pitchFamily="2" charset="0"/>
              </a:rPr>
              <a:t> 옮김</a:t>
            </a:r>
            <a:r>
              <a:rPr lang="en-US" altLang="ko-KR" sz="2400" b="1" dirty="0">
                <a:effectLst/>
                <a:latin typeface="Helvetica" pitchFamily="2" charset="0"/>
              </a:rPr>
              <a:t>), </a:t>
            </a:r>
            <a:r>
              <a:rPr lang="ko-KR" altLang="en-US" sz="2400" b="1" dirty="0">
                <a:effectLst/>
                <a:latin typeface="Helvetica" pitchFamily="2" charset="0"/>
              </a:rPr>
              <a:t>을유문화사</a:t>
            </a:r>
            <a:r>
              <a:rPr lang="en-US" altLang="ko-KR" sz="2400" b="1" dirty="0">
                <a:effectLst/>
                <a:latin typeface="Helvetica" pitchFamily="2" charset="0"/>
              </a:rPr>
              <a:t>, 2007. </a:t>
            </a:r>
          </a:p>
          <a:p>
            <a:pPr algn="just"/>
            <a:r>
              <a:rPr lang="en-US" altLang="ko-KR" sz="2400" b="1" dirty="0">
                <a:effectLst/>
                <a:latin typeface="Helvetica" pitchFamily="2" charset="0"/>
              </a:rPr>
              <a:t>2</a:t>
            </a:r>
            <a:r>
              <a:rPr lang="ko-KR" altLang="en-US" sz="2400" b="1" dirty="0">
                <a:effectLst/>
                <a:latin typeface="Helvetica" pitchFamily="2" charset="0"/>
              </a:rPr>
              <a:t>부 중에서 발췌 </a:t>
            </a:r>
            <a:r>
              <a:rPr lang="en-US" altLang="ko-KR" sz="2400" b="1" dirty="0">
                <a:effectLst/>
                <a:latin typeface="Helvetica" pitchFamily="2" charset="0"/>
              </a:rPr>
              <a:t>62~87</a:t>
            </a:r>
            <a:r>
              <a:rPr lang="ko-KR" altLang="en-US" sz="2400" b="1" dirty="0">
                <a:latin typeface="Helvetica" pitchFamily="2" charset="0"/>
              </a:rPr>
              <a:t>쪽</a:t>
            </a:r>
            <a:r>
              <a:rPr lang="en-US" altLang="ko-KR" sz="2400" b="1" dirty="0">
                <a:latin typeface="Helvetica" pitchFamily="2" charset="0"/>
              </a:rPr>
              <a:t>.</a:t>
            </a:r>
            <a:endParaRPr lang="en-US" altLang="ko-KR" sz="2400" b="1" dirty="0">
              <a:effectLst/>
              <a:latin typeface="Helvetica" pitchFamily="2" charset="0"/>
            </a:endParaRPr>
          </a:p>
          <a:p>
            <a:pPr lvl="0" algn="just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 algn="just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논제</a:t>
            </a:r>
          </a:p>
          <a:p>
            <a:pPr algn="just">
              <a:defRPr/>
            </a:pP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☞ </a:t>
            </a:r>
            <a:r>
              <a:rPr lang="ko-KR" altLang="en-US" sz="2400" dirty="0">
                <a:effectLst/>
                <a:latin typeface="Helvetica" pitchFamily="2" charset="0"/>
              </a:rPr>
              <a:t>모어의 유토피아의 지향점이 무엇인지 기술하고</a:t>
            </a:r>
            <a:r>
              <a:rPr lang="en-US" altLang="ko-KR" sz="2400" dirty="0">
                <a:effectLst/>
                <a:latin typeface="Helvetica" pitchFamily="2" charset="0"/>
              </a:rPr>
              <a:t>, </a:t>
            </a:r>
            <a:r>
              <a:rPr lang="ko-KR" altLang="en-US" sz="2400" dirty="0">
                <a:effectLst/>
                <a:latin typeface="Helvetica" pitchFamily="2" charset="0"/>
              </a:rPr>
              <a:t>유토피아 섬을 각자가 알고 있는 또 다른 이상 세계 혹은 현실 세계와 비교하며 모어의 유토피아에 대해 자신의 생각을 적어 </a:t>
            </a:r>
            <a:r>
              <a:rPr lang="ko-KR" altLang="en-US" sz="2400" dirty="0" err="1">
                <a:effectLst/>
                <a:latin typeface="Helvetica" pitchFamily="2" charset="0"/>
              </a:rPr>
              <a:t>보시오</a:t>
            </a:r>
            <a:r>
              <a:rPr lang="en-US" altLang="ko-KR" sz="2400" dirty="0">
                <a:effectLst/>
                <a:latin typeface="Helvetica" pitchFamily="2" charset="0"/>
              </a:rPr>
              <a:t>.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(</a:t>
            </a:r>
            <a:r>
              <a:rPr lang="en-US" altLang="ko-KR" sz="2100" kern="0" spc="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1,800</a:t>
            </a:r>
            <a:r>
              <a:rPr lang="ko-KR" altLang="en-US" sz="2100" kern="0" spc="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100" kern="0" spc="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34806-E9D3-4716-B678-1CD35607D7EE}"/>
              </a:ext>
            </a:extLst>
          </p:cNvPr>
          <p:cNvSpPr/>
          <p:nvPr/>
        </p:nvSpPr>
        <p:spPr>
          <a:xfrm>
            <a:off x="512519" y="1384183"/>
            <a:ext cx="2223082" cy="8126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 독후감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735601" y="1384183"/>
            <a:ext cx="6096000" cy="830997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lvl="0">
              <a:defRPr/>
            </a:pP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제출일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4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월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 13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일 토요일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18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:00</a:t>
            </a:r>
          </a:p>
          <a:p>
            <a:pPr lvl="0">
              <a:defRPr/>
            </a:pPr>
            <a:r>
              <a:rPr lang="ko-KR" altLang="en-US" sz="2400" dirty="0" err="1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미제출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혹은 </a:t>
            </a:r>
            <a:r>
              <a:rPr lang="ko-KR" altLang="en-US" sz="2400" dirty="0" err="1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재제출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5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11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일 토요일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18:00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72C51-37F5-4057-AC67-C3294E3DC675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텍스트 및 논제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8" name="그래픽 7" descr="연필">
            <a:extLst>
              <a:ext uri="{FF2B5EF4-FFF2-40B4-BE49-F238E27FC236}">
                <a16:creationId xmlns:a16="http://schemas.microsoft.com/office/drawing/2014/main" id="{ACE5F3C0-6B91-4533-B229-1573FF9846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79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407" y="2297634"/>
            <a:ext cx="1104830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 algn="just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텍스트</a:t>
            </a:r>
          </a:p>
          <a:p>
            <a:pPr algn="just">
              <a:defRPr/>
            </a:pPr>
            <a:r>
              <a:rPr lang="ko-KR" altLang="en-US" sz="2400" b="1" dirty="0" err="1">
                <a:effectLst/>
                <a:latin typeface="Helvetica" pitchFamily="2" charset="0"/>
              </a:rPr>
              <a:t>요아힘</a:t>
            </a:r>
            <a:r>
              <a:rPr lang="ko-KR" altLang="en-US" sz="2400" b="1" dirty="0">
                <a:effectLst/>
                <a:latin typeface="Helvetica" pitchFamily="2" charset="0"/>
              </a:rPr>
              <a:t> </a:t>
            </a:r>
            <a:r>
              <a:rPr lang="ko-KR" altLang="en-US" sz="2400" b="1" dirty="0" err="1">
                <a:effectLst/>
                <a:latin typeface="Helvetica" pitchFamily="2" charset="0"/>
              </a:rPr>
              <a:t>바우어</a:t>
            </a:r>
            <a:r>
              <a:rPr lang="en-US" altLang="ko-KR" sz="2400" b="1" dirty="0">
                <a:effectLst/>
                <a:latin typeface="Helvetica" pitchFamily="2" charset="0"/>
              </a:rPr>
              <a:t>, 『</a:t>
            </a:r>
            <a:r>
              <a:rPr lang="ko-KR" altLang="en-US" sz="2400" b="1" dirty="0">
                <a:latin typeface="Helvetica" pitchFamily="2" charset="0"/>
              </a:rPr>
              <a:t>공감하는 유전자</a:t>
            </a:r>
            <a:r>
              <a:rPr lang="en-US" altLang="ko-KR" sz="2400" b="1" dirty="0">
                <a:effectLst/>
                <a:latin typeface="Helvetica" pitchFamily="2" charset="0"/>
              </a:rPr>
              <a:t>』(</a:t>
            </a:r>
            <a:r>
              <a:rPr lang="ko-KR" altLang="en-US" sz="2400" b="1" dirty="0">
                <a:effectLst/>
                <a:latin typeface="Helvetica" pitchFamily="2" charset="0"/>
              </a:rPr>
              <a:t>장윤경 옮김</a:t>
            </a:r>
            <a:r>
              <a:rPr lang="en-US" altLang="ko-KR" sz="2400" b="1" dirty="0">
                <a:effectLst/>
                <a:latin typeface="Helvetica" pitchFamily="2" charset="0"/>
              </a:rPr>
              <a:t>), </a:t>
            </a:r>
            <a:r>
              <a:rPr lang="ko-KR" altLang="en-US" sz="2400" b="1" dirty="0">
                <a:effectLst/>
                <a:latin typeface="Helvetica" pitchFamily="2" charset="0"/>
              </a:rPr>
              <a:t>매일경제신문사</a:t>
            </a:r>
            <a:r>
              <a:rPr lang="en-US" altLang="ko-KR" sz="2400" b="1" dirty="0">
                <a:effectLst/>
                <a:latin typeface="Helvetica" pitchFamily="2" charset="0"/>
              </a:rPr>
              <a:t>, 2022. </a:t>
            </a:r>
          </a:p>
          <a:p>
            <a:pPr algn="just">
              <a:defRPr/>
            </a:pPr>
            <a:r>
              <a:rPr lang="ko-KR" altLang="en-US" sz="2400" b="1" dirty="0">
                <a:effectLst/>
                <a:latin typeface="Helvetica" pitchFamily="2" charset="0"/>
              </a:rPr>
              <a:t>제</a:t>
            </a:r>
            <a:r>
              <a:rPr lang="en-US" altLang="ko-KR" sz="2400" b="1" dirty="0">
                <a:effectLst/>
                <a:latin typeface="Helvetica" pitchFamily="2" charset="0"/>
              </a:rPr>
              <a:t>2~3</a:t>
            </a:r>
            <a:r>
              <a:rPr lang="ko-KR" altLang="en-US" sz="2400" b="1" dirty="0">
                <a:effectLst/>
                <a:latin typeface="Helvetica" pitchFamily="2" charset="0"/>
              </a:rPr>
              <a:t>장 </a:t>
            </a:r>
            <a:r>
              <a:rPr lang="en-US" altLang="ko-KR" sz="2400" b="1" dirty="0">
                <a:latin typeface="Helvetica" pitchFamily="2" charset="0"/>
              </a:rPr>
              <a:t>27</a:t>
            </a:r>
            <a:r>
              <a:rPr lang="en-US" altLang="ko-KR" sz="2400" b="1" dirty="0">
                <a:effectLst/>
                <a:latin typeface="Helvetica" pitchFamily="2" charset="0"/>
              </a:rPr>
              <a:t>~79</a:t>
            </a:r>
            <a:r>
              <a:rPr lang="ko-KR" altLang="en-US" sz="2400" b="1" dirty="0">
                <a:effectLst/>
                <a:latin typeface="Helvetica" pitchFamily="2" charset="0"/>
              </a:rPr>
              <a:t>쪽</a:t>
            </a:r>
            <a:r>
              <a:rPr lang="en-US" altLang="ko-KR" sz="2400" b="1" dirty="0">
                <a:effectLst/>
                <a:latin typeface="Helvetica" pitchFamily="2" charset="0"/>
              </a:rPr>
              <a:t>.</a:t>
            </a:r>
          </a:p>
          <a:p>
            <a:pPr lvl="0" algn="just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 algn="just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논제</a:t>
            </a:r>
          </a:p>
          <a:p>
            <a:pPr algn="just">
              <a:defRPr/>
            </a:pP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☞ </a:t>
            </a:r>
            <a:r>
              <a:rPr lang="en-US" altLang="ko-KR" sz="2400" dirty="0">
                <a:effectLst/>
                <a:latin typeface="Helvetica" pitchFamily="2" charset="0"/>
              </a:rPr>
              <a:t>『</a:t>
            </a:r>
            <a:r>
              <a:rPr lang="ko-KR" altLang="en-US" sz="2400" dirty="0">
                <a:latin typeface="Helvetica" pitchFamily="2" charset="0"/>
              </a:rPr>
              <a:t>공감하는 유전자</a:t>
            </a:r>
            <a:r>
              <a:rPr lang="en-US" altLang="ko-KR" sz="2400" dirty="0">
                <a:effectLst/>
                <a:latin typeface="Helvetica" pitchFamily="2" charset="0"/>
              </a:rPr>
              <a:t>』</a:t>
            </a:r>
            <a:r>
              <a:rPr lang="ko-KR" altLang="en-US" sz="2400" dirty="0">
                <a:effectLst/>
                <a:latin typeface="Helvetica" pitchFamily="2" charset="0"/>
              </a:rPr>
              <a:t>가 제시하는 ‘좋은 </a:t>
            </a:r>
            <a:r>
              <a:rPr lang="ko-KR" altLang="en-US" sz="2400" dirty="0" err="1">
                <a:effectLst/>
                <a:latin typeface="Helvetica" pitchFamily="2" charset="0"/>
              </a:rPr>
              <a:t>삶’과</a:t>
            </a:r>
            <a:r>
              <a:rPr lang="ko-KR" altLang="en-US" sz="2400" dirty="0">
                <a:effectLst/>
                <a:latin typeface="Helvetica" pitchFamily="2" charset="0"/>
              </a:rPr>
              <a:t> ‘</a:t>
            </a:r>
            <a:r>
              <a:rPr lang="ko-KR" altLang="en-US" sz="2400" dirty="0" err="1">
                <a:effectLst/>
                <a:latin typeface="Helvetica" pitchFamily="2" charset="0"/>
              </a:rPr>
              <a:t>유전자’의</a:t>
            </a:r>
            <a:r>
              <a:rPr lang="ko-KR" altLang="en-US" sz="2400" dirty="0">
                <a:effectLst/>
                <a:latin typeface="Helvetica" pitchFamily="2" charset="0"/>
              </a:rPr>
              <a:t> 관계를 요약해 보고</a:t>
            </a:r>
            <a:r>
              <a:rPr lang="en-US" altLang="ko-KR" sz="2400" dirty="0">
                <a:effectLst/>
                <a:latin typeface="Helvetica" pitchFamily="2" charset="0"/>
              </a:rPr>
              <a:t>, </a:t>
            </a:r>
            <a:r>
              <a:rPr lang="ko-KR" altLang="en-US" sz="2400" dirty="0">
                <a:effectLst/>
                <a:latin typeface="Helvetica" pitchFamily="2" charset="0"/>
              </a:rPr>
              <a:t>우리 사회가 소외와 차별을 극복하기 위해 모색해야 하는 변화</a:t>
            </a:r>
            <a:r>
              <a:rPr lang="en-US" altLang="ko-KR" sz="2400" dirty="0">
                <a:effectLst/>
                <a:latin typeface="Helvetica" pitchFamily="2" charset="0"/>
              </a:rPr>
              <a:t>, </a:t>
            </a:r>
            <a:r>
              <a:rPr lang="ko-KR" altLang="en-US" sz="2400" dirty="0">
                <a:effectLst/>
                <a:latin typeface="Helvetica" pitchFamily="2" charset="0"/>
              </a:rPr>
              <a:t>대안에는 무엇이 있는지 구체적으로 서술해 </a:t>
            </a:r>
            <a:r>
              <a:rPr lang="ko-KR" altLang="en-US" sz="2400" dirty="0" err="1">
                <a:effectLst/>
                <a:latin typeface="Helvetica" pitchFamily="2" charset="0"/>
              </a:rPr>
              <a:t>보시오</a:t>
            </a:r>
            <a:r>
              <a:rPr lang="en-US" altLang="ko-KR" sz="2400" dirty="0">
                <a:latin typeface="Helvetica" pitchFamily="2" charset="0"/>
              </a:rPr>
              <a:t>.</a:t>
            </a:r>
            <a:r>
              <a:rPr lang="ko-KR" altLang="en-US" sz="2400" dirty="0">
                <a:latin typeface="Helvetica" pitchFamily="2" charset="0"/>
              </a:rPr>
              <a:t> </a:t>
            </a:r>
            <a:r>
              <a:rPr lang="en-US" altLang="ko-KR" sz="2100" kern="0" spc="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(1,500</a:t>
            </a:r>
            <a:r>
              <a:rPr lang="ko-KR" altLang="en-US" sz="2100" kern="0" spc="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100" kern="0" spc="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34806-E9D3-4716-B678-1CD35607D7EE}"/>
              </a:ext>
            </a:extLst>
          </p:cNvPr>
          <p:cNvSpPr/>
          <p:nvPr/>
        </p:nvSpPr>
        <p:spPr>
          <a:xfrm>
            <a:off x="512519" y="1384183"/>
            <a:ext cx="2223082" cy="8126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 독후감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735600" y="1384183"/>
            <a:ext cx="9456399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제출일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5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11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일 토요일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18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:00</a:t>
            </a:r>
          </a:p>
          <a:p>
            <a:pPr lvl="0">
              <a:defRPr/>
            </a:pPr>
            <a:r>
              <a:rPr lang="ko-KR" altLang="en-US" sz="2400" dirty="0" err="1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미제출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혹은 </a:t>
            </a:r>
            <a:r>
              <a:rPr lang="ko-KR" altLang="en-US" sz="2400" dirty="0" err="1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재제출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6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01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일 토요일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18:00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71D40-64F1-44D4-BDB5-9854E9470A5F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텍스트 및 논제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래픽 8" descr="연필">
            <a:extLst>
              <a:ext uri="{FF2B5EF4-FFF2-40B4-BE49-F238E27FC236}">
                <a16:creationId xmlns:a16="http://schemas.microsoft.com/office/drawing/2014/main" id="{6014D12A-06C0-4020-B7B2-A28E03D88B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92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407" y="2297634"/>
            <a:ext cx="1124882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 algn="just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텍스트</a:t>
            </a:r>
          </a:p>
          <a:p>
            <a:pPr algn="just">
              <a:defRPr/>
            </a:pPr>
            <a:r>
              <a:rPr lang="ko-KR" altLang="en-US" sz="2400" b="1" dirty="0" err="1">
                <a:effectLst/>
                <a:latin typeface="Helvetica" pitchFamily="2" charset="0"/>
              </a:rPr>
              <a:t>자미라</a:t>
            </a:r>
            <a:r>
              <a:rPr lang="ko-KR" altLang="en-US" sz="2400" b="1" dirty="0">
                <a:effectLst/>
                <a:latin typeface="Helvetica" pitchFamily="2" charset="0"/>
              </a:rPr>
              <a:t> 엘 </a:t>
            </a:r>
            <a:r>
              <a:rPr lang="ko-KR" altLang="en-US" sz="2400" b="1" dirty="0" err="1">
                <a:effectLst/>
                <a:latin typeface="Helvetica" pitchFamily="2" charset="0"/>
              </a:rPr>
              <a:t>우아실</a:t>
            </a:r>
            <a:r>
              <a:rPr lang="ko-KR" altLang="en-US" sz="2400" b="1" dirty="0">
                <a:effectLst/>
                <a:latin typeface="Helvetica" pitchFamily="2" charset="0"/>
              </a:rPr>
              <a:t> </a:t>
            </a:r>
            <a:r>
              <a:rPr lang="en-US" altLang="ko-KR" sz="2400" b="1" dirty="0">
                <a:effectLst/>
                <a:latin typeface="Helvetica" pitchFamily="2" charset="0"/>
              </a:rPr>
              <a:t>&amp; </a:t>
            </a:r>
            <a:r>
              <a:rPr lang="ko-KR" altLang="en-US" sz="2400" b="1" dirty="0" err="1">
                <a:effectLst/>
                <a:latin typeface="Helvetica" pitchFamily="2" charset="0"/>
              </a:rPr>
              <a:t>프리데만</a:t>
            </a:r>
            <a:r>
              <a:rPr lang="ko-KR" altLang="en-US" sz="2400" b="1" dirty="0">
                <a:effectLst/>
                <a:latin typeface="Helvetica" pitchFamily="2" charset="0"/>
              </a:rPr>
              <a:t> </a:t>
            </a:r>
            <a:r>
              <a:rPr lang="ko-KR" altLang="en-US" sz="2400" b="1" dirty="0" err="1">
                <a:effectLst/>
                <a:latin typeface="Helvetica" pitchFamily="2" charset="0"/>
              </a:rPr>
              <a:t>카릭</a:t>
            </a:r>
            <a:r>
              <a:rPr lang="en-US" altLang="ko-KR" sz="2400" b="1" dirty="0">
                <a:effectLst/>
                <a:latin typeface="Helvetica" pitchFamily="2" charset="0"/>
              </a:rPr>
              <a:t>, 『</a:t>
            </a:r>
            <a:r>
              <a:rPr lang="ko-KR" altLang="en-US" sz="2400" b="1" dirty="0">
                <a:effectLst/>
                <a:latin typeface="Helvetica" pitchFamily="2" charset="0"/>
              </a:rPr>
              <a:t>세상은 이야기로 만들어졌다</a:t>
            </a:r>
            <a:r>
              <a:rPr lang="en-US" altLang="ko-KR" sz="2400" b="1" dirty="0">
                <a:effectLst/>
                <a:latin typeface="Helvetica" pitchFamily="2" charset="0"/>
              </a:rPr>
              <a:t>』(</a:t>
            </a:r>
            <a:r>
              <a:rPr lang="ko-KR" altLang="en-US" sz="2400" b="1" dirty="0">
                <a:effectLst/>
                <a:latin typeface="Helvetica" pitchFamily="2" charset="0"/>
              </a:rPr>
              <a:t>김현정 옮김</a:t>
            </a:r>
            <a:r>
              <a:rPr lang="en-US" altLang="ko-KR" sz="2400" b="1" dirty="0">
                <a:effectLst/>
                <a:latin typeface="Helvetica" pitchFamily="2" charset="0"/>
              </a:rPr>
              <a:t>), </a:t>
            </a:r>
            <a:r>
              <a:rPr lang="ko-KR" altLang="en-US" sz="2400" b="1" dirty="0" err="1">
                <a:effectLst/>
                <a:latin typeface="Helvetica" pitchFamily="2" charset="0"/>
              </a:rPr>
              <a:t>원더박스</a:t>
            </a:r>
            <a:r>
              <a:rPr lang="en-US" altLang="ko-KR" sz="2400" b="1" dirty="0">
                <a:effectLst/>
                <a:latin typeface="Helvetica" pitchFamily="2" charset="0"/>
              </a:rPr>
              <a:t>, 2023. </a:t>
            </a:r>
          </a:p>
          <a:p>
            <a:pPr algn="just">
              <a:defRPr/>
            </a:pPr>
            <a:r>
              <a:rPr lang="en-US" altLang="ko-KR" sz="2400" b="1" dirty="0">
                <a:effectLst/>
                <a:latin typeface="Helvetica" pitchFamily="2" charset="0"/>
              </a:rPr>
              <a:t>5</a:t>
            </a:r>
            <a:r>
              <a:rPr lang="ko-KR" altLang="en-US" sz="2400" b="1" dirty="0">
                <a:effectLst/>
                <a:latin typeface="Helvetica" pitchFamily="2" charset="0"/>
              </a:rPr>
              <a:t>장 </a:t>
            </a:r>
            <a:r>
              <a:rPr lang="en-US" altLang="ko-KR" sz="2400" b="1" dirty="0">
                <a:effectLst/>
                <a:latin typeface="Helvetica" pitchFamily="2" charset="0"/>
              </a:rPr>
              <a:t>“</a:t>
            </a:r>
            <a:r>
              <a:rPr lang="ko-KR" altLang="en-US" sz="2400" b="1" dirty="0">
                <a:effectLst/>
                <a:latin typeface="Helvetica" pitchFamily="2" charset="0"/>
              </a:rPr>
              <a:t>첫 번째 문턱을 넘다 </a:t>
            </a:r>
            <a:r>
              <a:rPr lang="en-US" altLang="ko-KR" sz="2400" b="1" dirty="0">
                <a:effectLst/>
                <a:latin typeface="Helvetica" pitchFamily="2" charset="0"/>
              </a:rPr>
              <a:t>- </a:t>
            </a:r>
            <a:r>
              <a:rPr lang="ko-KR" altLang="en-US" sz="2400" b="1" dirty="0">
                <a:effectLst/>
                <a:latin typeface="Helvetica" pitchFamily="2" charset="0"/>
              </a:rPr>
              <a:t>인터넷은 우리의 서사를 어떻게 변화시키는가</a:t>
            </a:r>
            <a:r>
              <a:rPr lang="en-US" altLang="ko-KR" sz="2400" b="1" dirty="0">
                <a:effectLst/>
                <a:latin typeface="Helvetica" pitchFamily="2" charset="0"/>
              </a:rPr>
              <a:t>”</a:t>
            </a:r>
            <a:r>
              <a:rPr lang="ko-KR" altLang="en-US" sz="2400" b="1" dirty="0">
                <a:effectLst/>
                <a:latin typeface="Helvetica" pitchFamily="2" charset="0"/>
              </a:rPr>
              <a:t>  </a:t>
            </a:r>
            <a:r>
              <a:rPr lang="en-US" altLang="ko-KR" sz="2400" b="1" dirty="0">
                <a:effectLst/>
                <a:latin typeface="Helvetica" pitchFamily="2" charset="0"/>
              </a:rPr>
              <a:t>195~241</a:t>
            </a:r>
            <a:r>
              <a:rPr lang="ko-KR" altLang="en-US" sz="2400" b="1" dirty="0">
                <a:effectLst/>
                <a:latin typeface="Helvetica" pitchFamily="2" charset="0"/>
              </a:rPr>
              <a:t>쪽</a:t>
            </a:r>
            <a:r>
              <a:rPr lang="en-US" altLang="ko-KR" sz="2400" b="1" dirty="0">
                <a:effectLst/>
                <a:latin typeface="Helvetica" pitchFamily="2" charset="0"/>
              </a:rPr>
              <a:t>.</a:t>
            </a:r>
          </a:p>
          <a:p>
            <a:pPr lvl="0" algn="just"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 algn="just">
              <a:defRPr/>
            </a:pPr>
            <a:r>
              <a:rPr lang="ko-KR" altLang="en-US" sz="21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논제</a:t>
            </a:r>
          </a:p>
          <a:p>
            <a:pPr algn="just">
              <a:defRPr/>
            </a:pP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☞ </a:t>
            </a:r>
            <a:r>
              <a:rPr lang="ko-KR" altLang="en-US" sz="2400" dirty="0">
                <a:effectLst/>
                <a:latin typeface="Helvetica" pitchFamily="2" charset="0"/>
              </a:rPr>
              <a:t>이 글은 매체의 변화에 따라 이야기의 형태가 변화하는 양상을 살피고 있다</a:t>
            </a:r>
            <a:r>
              <a:rPr lang="en-US" altLang="ko-KR" sz="2400" dirty="0">
                <a:effectLst/>
                <a:latin typeface="Helvetica" pitchFamily="2" charset="0"/>
              </a:rPr>
              <a:t>. </a:t>
            </a:r>
            <a:r>
              <a:rPr lang="ko-KR" altLang="en-US" sz="2400" dirty="0">
                <a:effectLst/>
                <a:latin typeface="Helvetica" pitchFamily="2" charset="0"/>
              </a:rPr>
              <a:t>각 시대마다 새로운 매체의 등장이 이야기의 특성에 미친 영향을 정리하고</a:t>
            </a:r>
            <a:r>
              <a:rPr lang="en-US" altLang="ko-KR" sz="2400" dirty="0">
                <a:effectLst/>
                <a:latin typeface="Helvetica" pitchFamily="2" charset="0"/>
              </a:rPr>
              <a:t>, </a:t>
            </a:r>
            <a:r>
              <a:rPr lang="ko-KR" altLang="en-US" sz="2400" dirty="0">
                <a:effectLst/>
                <a:latin typeface="Helvetica" pitchFamily="2" charset="0"/>
              </a:rPr>
              <a:t>인공지능의 시대에는 이야기의 형태에 어떠한 변화가 나타날 것인지에 대해 자신의 생각을 쓰시오</a:t>
            </a:r>
            <a:r>
              <a:rPr lang="en-US" altLang="ko-KR" sz="2400" dirty="0">
                <a:effectLst/>
                <a:latin typeface="Helvetica" pitchFamily="2" charset="0"/>
              </a:rPr>
              <a:t>.</a:t>
            </a:r>
            <a:r>
              <a:rPr lang="en-US" altLang="ko-KR" sz="2100" kern="0" spc="-2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(1,800</a:t>
            </a:r>
            <a:r>
              <a:rPr lang="ko-KR" altLang="en-US" sz="2100" kern="0" spc="-2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자</a:t>
            </a:r>
            <a:r>
              <a:rPr lang="en-US" altLang="ko-KR" sz="2100" kern="0" spc="-20" dirty="0">
                <a:solidFill>
                  <a:srgbClr val="000000"/>
                </a:solidFill>
                <a:effectLst/>
                <a:latin typeface="함초롬돋움"/>
                <a:ea typeface="함초롬돋움"/>
                <a:cs typeface="함초롬돋움"/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34806-E9D3-4716-B678-1CD35607D7EE}"/>
              </a:ext>
            </a:extLst>
          </p:cNvPr>
          <p:cNvSpPr/>
          <p:nvPr/>
        </p:nvSpPr>
        <p:spPr>
          <a:xfrm>
            <a:off x="512519" y="1384183"/>
            <a:ext cx="2223082" cy="8126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</a:t>
            </a:r>
            <a:r>
              <a:rPr lang="en-US" altLang="ko-KR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 독후감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735600" y="1562290"/>
            <a:ext cx="9456399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제출일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6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1</a:t>
            </a:r>
            <a:r>
              <a:rPr lang="ko-KR" altLang="en-US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일 토요일 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</a:rPr>
              <a:t>18</a:t>
            </a:r>
            <a:r>
              <a:rPr lang="en-US" altLang="ko-KR" sz="2400" dirty="0">
                <a:solidFill>
                  <a:srgbClr val="002060"/>
                </a:solidFill>
                <a:latin typeface="함초롬돋움"/>
                <a:ea typeface="함초롬돋움"/>
                <a:cs typeface="함초롬돋움"/>
                <a:sym typeface="Wingdings"/>
              </a:rPr>
              <a:t>:00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152127" y="1568849"/>
            <a:ext cx="5039872" cy="46166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재제출일 </a:t>
            </a:r>
            <a:r>
              <a:rPr lang="en-US" altLang="ko-KR" sz="24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6</a:t>
            </a:r>
            <a:r>
              <a:rPr lang="ko-KR" altLang="en-US" sz="24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월 </a:t>
            </a:r>
            <a:r>
              <a:rPr lang="en-US" altLang="ko-KR" sz="24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8</a:t>
            </a:r>
            <a:r>
              <a:rPr lang="ko-KR" altLang="en-US" sz="24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일 토요일 </a:t>
            </a:r>
            <a:r>
              <a:rPr lang="en-US" altLang="ko-KR" sz="24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23:59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71D40-64F1-44D4-BDB5-9854E9470A5F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텍스트 및 논제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래픽 8" descr="연필">
            <a:extLst>
              <a:ext uri="{FF2B5EF4-FFF2-40B4-BE49-F238E27FC236}">
                <a16:creationId xmlns:a16="http://schemas.microsoft.com/office/drawing/2014/main" id="{6014D12A-06C0-4020-B7B2-A28E03D88B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300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EA76E96-83DB-447D-802A-5F7AA59F3401}"/>
              </a:ext>
            </a:extLst>
          </p:cNvPr>
          <p:cNvSpPr/>
          <p:nvPr/>
        </p:nvSpPr>
        <p:spPr>
          <a:xfrm>
            <a:off x="2458590" y="1468623"/>
            <a:ext cx="1728192" cy="648072"/>
          </a:xfrm>
          <a:prstGeom prst="rect">
            <a:avLst/>
          </a:prstGeom>
          <a:solidFill>
            <a:srgbClr val="920D1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n</a:t>
            </a:r>
            <a:r>
              <a:rPr lang="ko-KR" altLang="en-US" sz="21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 제출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6073BC-7A56-4BAA-9B01-B623B3036E10}"/>
              </a:ext>
            </a:extLst>
          </p:cNvPr>
          <p:cNvSpPr/>
          <p:nvPr/>
        </p:nvSpPr>
        <p:spPr>
          <a:xfrm>
            <a:off x="5071264" y="1468623"/>
            <a:ext cx="1728192" cy="648072"/>
          </a:xfrm>
          <a:prstGeom prst="rect">
            <a:avLst/>
          </a:prstGeom>
          <a:solidFill>
            <a:srgbClr val="920D1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평가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66DC53-00F2-499C-9213-7C3C21072947}"/>
              </a:ext>
            </a:extLst>
          </p:cNvPr>
          <p:cNvSpPr/>
          <p:nvPr/>
        </p:nvSpPr>
        <p:spPr>
          <a:xfrm>
            <a:off x="7683937" y="1468623"/>
            <a:ext cx="1728192" cy="648072"/>
          </a:xfrm>
          <a:prstGeom prst="rect">
            <a:avLst/>
          </a:prstGeom>
          <a:solidFill>
            <a:srgbClr val="920D1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강평</a:t>
            </a:r>
          </a:p>
        </p:txBody>
      </p:sp>
      <p:sp>
        <p:nvSpPr>
          <p:cNvPr id="10" name="오른쪽 화살표 6">
            <a:extLst>
              <a:ext uri="{FF2B5EF4-FFF2-40B4-BE49-F238E27FC236}">
                <a16:creationId xmlns:a16="http://schemas.microsoft.com/office/drawing/2014/main" id="{5407B096-CF40-4A87-B7A5-DF37A00777B6}"/>
              </a:ext>
            </a:extLst>
          </p:cNvPr>
          <p:cNvSpPr/>
          <p:nvPr/>
        </p:nvSpPr>
        <p:spPr>
          <a:xfrm>
            <a:off x="4340991" y="1684647"/>
            <a:ext cx="576064" cy="216024"/>
          </a:xfrm>
          <a:prstGeom prst="rightArrow">
            <a:avLst/>
          </a:prstGeom>
          <a:solidFill>
            <a:srgbClr val="920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7">
            <a:extLst>
              <a:ext uri="{FF2B5EF4-FFF2-40B4-BE49-F238E27FC236}">
                <a16:creationId xmlns:a16="http://schemas.microsoft.com/office/drawing/2014/main" id="{FFCE2EDC-C5B3-4F26-8ABD-67F984D0CC81}"/>
              </a:ext>
            </a:extLst>
          </p:cNvPr>
          <p:cNvSpPr/>
          <p:nvPr/>
        </p:nvSpPr>
        <p:spPr>
          <a:xfrm>
            <a:off x="6953665" y="1684647"/>
            <a:ext cx="576064" cy="216024"/>
          </a:xfrm>
          <a:prstGeom prst="rightArrow">
            <a:avLst/>
          </a:prstGeom>
          <a:solidFill>
            <a:srgbClr val="920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307588" y="2145481"/>
            <a:ext cx="23986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100" b="1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지각제출 시 </a:t>
            </a:r>
            <a:r>
              <a:rPr lang="en-US" altLang="ko-KR" sz="2200" b="1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-5</a:t>
            </a:r>
            <a:endParaRPr lang="ko-KR" altLang="en-US" sz="2200" b="1">
              <a:solidFill>
                <a:srgbClr val="920D14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81716" y="2740977"/>
            <a:ext cx="8507288" cy="4381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359999">
              <a:spcAft>
                <a:spcPts val="1200"/>
              </a:spcAft>
              <a:defRPr/>
            </a:pPr>
            <a:r>
              <a:rPr lang="ko-KR" altLang="en-US" sz="2200" b="1" u="sng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한 기수당 만점은 </a:t>
            </a:r>
            <a:r>
              <a:rPr lang="en-US" altLang="ko-KR" sz="2200" b="1" u="sng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25</a:t>
            </a:r>
            <a:r>
              <a:rPr lang="ko-KR" altLang="en-US" sz="2200" b="1" u="sng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점</a:t>
            </a:r>
            <a:r>
              <a:rPr lang="en-US" altLang="ko-KR" sz="2200" b="1" u="sng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! </a:t>
            </a:r>
          </a:p>
          <a:p>
            <a:pPr lvl="0" defTabSz="359999">
              <a:spcAft>
                <a:spcPts val="1200"/>
              </a:spcAft>
              <a:defRPr/>
            </a:pP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① 제출 후 통과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    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→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다음 기 독후감 준비</a:t>
            </a:r>
          </a:p>
          <a:p>
            <a:pPr lvl="0" defTabSz="359999">
              <a:spcAft>
                <a:spcPts val="1200"/>
              </a:spcAft>
              <a:defRPr/>
            </a:pP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② 제출 후 불통과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    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→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다음 기 제출 때 </a:t>
            </a:r>
            <a:r>
              <a:rPr lang="ko-KR" altLang="en-US" sz="220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불통과 게시판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에 제출</a:t>
            </a:r>
            <a:br>
              <a:rPr lang="en-US" altLang="ko-KR" sz="2200">
                <a:latin typeface="함초롬돋움"/>
                <a:ea typeface="함초롬돋움"/>
                <a:cs typeface="함초롬돋움"/>
              </a:rPr>
            </a:b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					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㉠ 통과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</a:t>
            </a:r>
            <a:r>
              <a:rPr lang="en-US" altLang="ko-KR" sz="2200" b="1">
                <a:latin typeface="함초롬돋움"/>
                <a:ea typeface="함초롬돋움"/>
                <a:cs typeface="함초롬돋움"/>
              </a:rPr>
              <a:t>   -5</a:t>
            </a:r>
            <a:br>
              <a:rPr lang="en-US" altLang="ko-KR" sz="2200">
                <a:latin typeface="함초롬돋움"/>
                <a:ea typeface="함초롬돋움"/>
                <a:cs typeface="함초롬돋움"/>
              </a:rPr>
            </a:b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					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㉡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불통과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 </a:t>
            </a:r>
            <a:r>
              <a:rPr lang="en-US" altLang="ko-KR" sz="2200" b="1">
                <a:latin typeface="함초롬돋움"/>
                <a:ea typeface="함초롬돋움"/>
                <a:cs typeface="함초롬돋움"/>
              </a:rPr>
              <a:t>-15</a:t>
            </a:r>
            <a:br>
              <a:rPr lang="en-US" altLang="ko-KR" sz="2200">
                <a:latin typeface="함초롬돋움"/>
                <a:ea typeface="함초롬돋움"/>
                <a:cs typeface="함초롬돋움"/>
              </a:rPr>
            </a:b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					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㉢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미제출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 </a:t>
            </a:r>
            <a:r>
              <a:rPr lang="en-US" altLang="ko-KR" sz="2200" b="1">
                <a:latin typeface="함초롬돋움"/>
                <a:ea typeface="함초롬돋움"/>
                <a:cs typeface="함초롬돋움"/>
              </a:rPr>
              <a:t>-15</a:t>
            </a:r>
          </a:p>
          <a:p>
            <a:pPr lvl="0" defTabSz="359999">
              <a:spcAft>
                <a:spcPts val="1200"/>
              </a:spcAft>
              <a:defRPr/>
            </a:pP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③ 미제출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		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→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다음 기 제출 때 </a:t>
            </a:r>
            <a:r>
              <a:rPr lang="ko-KR" altLang="en-US" sz="2200">
                <a:solidFill>
                  <a:srgbClr val="920D14"/>
                </a:solidFill>
                <a:latin typeface="함초롬돋움"/>
                <a:ea typeface="함초롬돋움"/>
                <a:cs typeface="함초롬돋움"/>
              </a:rPr>
              <a:t>미제출 게시판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에 제출</a:t>
            </a:r>
            <a:br>
              <a:rPr lang="en-US" altLang="ko-KR" sz="2200">
                <a:latin typeface="함초롬돋움"/>
                <a:ea typeface="함초롬돋움"/>
                <a:cs typeface="함초롬돋움"/>
              </a:rPr>
            </a:b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					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㉠ 통과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</a:t>
            </a:r>
            <a:r>
              <a:rPr lang="en-US" altLang="ko-KR" sz="2200" b="1">
                <a:latin typeface="함초롬돋움"/>
                <a:ea typeface="함초롬돋움"/>
                <a:cs typeface="함초롬돋움"/>
              </a:rPr>
              <a:t>   -10</a:t>
            </a:r>
            <a:br>
              <a:rPr lang="en-US" altLang="ko-KR" sz="2200">
                <a:latin typeface="함초롬돋움"/>
                <a:ea typeface="함초롬돋움"/>
                <a:cs typeface="함초롬돋움"/>
              </a:rPr>
            </a:b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					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㉡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불통과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 </a:t>
            </a:r>
            <a:r>
              <a:rPr lang="en-US" altLang="ko-KR" sz="2200" b="1">
                <a:latin typeface="함초롬돋움"/>
                <a:ea typeface="함초롬돋움"/>
                <a:cs typeface="함초롬돋움"/>
              </a:rPr>
              <a:t>-15</a:t>
            </a:r>
            <a:br>
              <a:rPr lang="en-US" altLang="ko-KR" sz="2200">
                <a:latin typeface="함초롬돋움"/>
                <a:ea typeface="함초롬돋움"/>
                <a:cs typeface="함초롬돋움"/>
              </a:rPr>
            </a:b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							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㉢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200">
                <a:latin typeface="함초롬돋움"/>
                <a:ea typeface="함초롬돋움"/>
                <a:cs typeface="함초롬돋움"/>
              </a:rPr>
              <a:t>미제출</a:t>
            </a:r>
            <a:r>
              <a:rPr lang="en-US" altLang="ko-KR" sz="2200">
                <a:latin typeface="함초롬돋움"/>
                <a:ea typeface="함초롬돋움"/>
                <a:cs typeface="함초롬돋움"/>
              </a:rPr>
              <a:t>  </a:t>
            </a:r>
            <a:r>
              <a:rPr lang="en-US" altLang="ko-KR" sz="2200" b="1">
                <a:latin typeface="함초롬돋움"/>
                <a:ea typeface="함초롬돋움"/>
                <a:cs typeface="함초롬돋움"/>
              </a:rPr>
              <a:t>-25</a:t>
            </a:r>
          </a:p>
          <a:p>
            <a:pPr lvl="0" defTabSz="359999">
              <a:spcAft>
                <a:spcPts val="1200"/>
              </a:spcAft>
              <a:defRPr/>
            </a:pPr>
            <a:endParaRPr lang="ko-KR" altLang="en-US" sz="2200" b="1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A3841E-1FF3-46DE-A897-CB3AE5B0A4C4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점수 산정 방식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6" name="그래픽 15" descr="연필">
            <a:extLst>
              <a:ext uri="{FF2B5EF4-FFF2-40B4-BE49-F238E27FC236}">
                <a16:creationId xmlns:a16="http://schemas.microsoft.com/office/drawing/2014/main" id="{22563CCD-0D69-4DB5-A893-286C2CF985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7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45407" y="1634903"/>
            <a:ext cx="11367902" cy="4783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800" dirty="0">
                <a:latin typeface="netmarble Medium"/>
                <a:ea typeface="netmarble Medium"/>
              </a:rPr>
              <a:t>· </a:t>
            </a:r>
            <a:r>
              <a:rPr lang="ko-KR" altLang="en-US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늦어도 강평일 전 자정부터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는 사이버캠퍼스에서 확인 가능합니다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>
              <a:defRPr/>
            </a:pPr>
            <a:endParaRPr lang="en-US" altLang="ko-KR" sz="2800" dirty="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·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각자의 결과는 각자만 볼 수 있습니다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>
              <a:defRPr/>
            </a:pPr>
            <a:endParaRPr lang="en-US" altLang="ko-KR" sz="2800" dirty="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·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강평일에 교수님께서 해당 독후감 결과에 대한 총괄적인 강평을 진행합니다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>
              <a:defRPr/>
            </a:pPr>
            <a:endParaRPr lang="en-US" altLang="ko-KR" sz="2800" dirty="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· </a:t>
            </a:r>
            <a:r>
              <a:rPr lang="ko-KR" altLang="en-US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불통과자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의 경우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결과에 대한 </a:t>
            </a:r>
            <a:r>
              <a:rPr lang="en-US" altLang="ko-KR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1:1 </a:t>
            </a:r>
            <a:r>
              <a:rPr lang="ko-KR" altLang="en-US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조교 대면 첨삭</a:t>
            </a:r>
            <a:r>
              <a:rPr lang="ko-KR" altLang="en-US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을 해야 합니다</a:t>
            </a:r>
            <a:r>
              <a:rPr lang="en-US" altLang="ko-KR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.</a:t>
            </a:r>
          </a:p>
          <a:p>
            <a:pPr lvl="0">
              <a:defRPr/>
            </a:pPr>
            <a:r>
              <a:rPr lang="en-US" altLang="ko-KR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-&gt; </a:t>
            </a:r>
            <a:r>
              <a:rPr lang="ko-KR" altLang="en-US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조교의 이메일로 연락하여</a:t>
            </a:r>
            <a:r>
              <a:rPr lang="en-US" altLang="ko-KR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시간을 정해서 대면 후 피드백을 받습니다</a:t>
            </a:r>
            <a:r>
              <a:rPr lang="en-US" altLang="ko-KR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. </a:t>
            </a:r>
            <a:r>
              <a:rPr lang="ko-KR" altLang="en-US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원칙은 대면첨삭</a:t>
            </a:r>
            <a:r>
              <a:rPr lang="ko-KR" altLang="en-US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이나</a:t>
            </a:r>
            <a:r>
              <a:rPr lang="en-US" altLang="ko-KR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코로나 상황 혹은 부득이한 사정으로 일정이 맞지 않을 경우 </a:t>
            </a:r>
            <a:r>
              <a:rPr lang="ko-KR" altLang="en-US" sz="2800" dirty="0" err="1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비대면첨삭</a:t>
            </a:r>
            <a:r>
              <a:rPr lang="en-US" altLang="ko-KR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(zoom)</a:t>
            </a:r>
            <a:r>
              <a:rPr lang="ko-KR" altLang="en-US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도 가능합니다</a:t>
            </a:r>
            <a:r>
              <a:rPr lang="en-US" altLang="ko-KR" sz="2800" dirty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F7DAC-79E8-429F-B9A1-C5EF3ABD76B0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결과 확인 방법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래픽 8" descr="연필">
            <a:extLst>
              <a:ext uri="{FF2B5EF4-FFF2-40B4-BE49-F238E27FC236}">
                <a16:creationId xmlns:a16="http://schemas.microsoft.com/office/drawing/2014/main" id="{3CCB6EA5-8496-41A6-8EDA-8A16F73337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305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5407" y="1634903"/>
            <a:ext cx="110483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800" dirty="0">
                <a:latin typeface="함초롬돋움"/>
                <a:ea typeface="함초롬돋움"/>
                <a:cs typeface="함초롬돋움"/>
                <a:sym typeface="Wingdings"/>
              </a:rPr>
              <a:t>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ko-KR" altLang="en-US" sz="2800" dirty="0" err="1">
                <a:latin typeface="함초롬돋움"/>
                <a:ea typeface="함초롬돋움"/>
                <a:cs typeface="함초롬돋움"/>
              </a:rPr>
              <a:t>재제출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및 </a:t>
            </a:r>
            <a:r>
              <a:rPr lang="ko-KR" altLang="en-US" sz="2800" dirty="0" err="1">
                <a:latin typeface="함초롬돋움"/>
                <a:ea typeface="함초롬돋움"/>
                <a:cs typeface="함초롬돋움"/>
              </a:rPr>
              <a:t>미제출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 독후감은 </a:t>
            </a:r>
            <a:r>
              <a:rPr lang="ko-KR" altLang="en-US" sz="28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다음 기수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에 제출</a:t>
            </a:r>
          </a:p>
          <a:p>
            <a:pPr lvl="0">
              <a:defRPr/>
            </a:pPr>
            <a:r>
              <a:rPr lang="en-US" altLang="ko-KR" sz="28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 </a:t>
            </a:r>
            <a:r>
              <a:rPr lang="ko-KR" altLang="en-US" sz="2800" dirty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  <a:sym typeface="Wingdings"/>
              </a:rPr>
              <a:t>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  <a:sym typeface="Wingdings"/>
              </a:rPr>
              <a:t>4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기 </a:t>
            </a:r>
            <a:r>
              <a:rPr lang="ko-KR" altLang="en-US" sz="2100" dirty="0" err="1">
                <a:latin typeface="함초롬돋움"/>
                <a:ea typeface="함초롬돋움"/>
                <a:cs typeface="함초롬돋움"/>
              </a:rPr>
              <a:t>재제출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및 </a:t>
            </a:r>
            <a:r>
              <a:rPr lang="ko-KR" altLang="en-US" sz="2100" dirty="0" err="1">
                <a:latin typeface="함초롬돋움"/>
                <a:ea typeface="함초롬돋움"/>
                <a:cs typeface="함초롬돋움"/>
              </a:rPr>
              <a:t>미제출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독후감은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6/8 (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토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)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23:59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까지 제출 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지각제출 불가</a:t>
            </a: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)</a:t>
            </a:r>
          </a:p>
          <a:p>
            <a:pPr lvl="0">
              <a:defRPr/>
            </a:pPr>
            <a:endParaRPr lang="ko-KR" altLang="en-US" sz="2800" dirty="0">
              <a:latin typeface="함초롬돋움"/>
              <a:ea typeface="함초롬돋움"/>
              <a:cs typeface="함초롬돋움"/>
            </a:endParaRPr>
          </a:p>
          <a:p>
            <a:pPr marL="457200" lvl="0" indent="-457200">
              <a:buFont typeface="Wingdings"/>
              <a:buChar char="L"/>
              <a:defRPr/>
            </a:pPr>
            <a:r>
              <a:rPr lang="ko-KR" altLang="en-US" sz="28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800" b="1" dirty="0" err="1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미제출</a:t>
            </a:r>
            <a:r>
              <a:rPr lang="ko-KR" altLang="en-US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 독후감 </a:t>
            </a:r>
            <a:r>
              <a:rPr lang="en-US" altLang="ko-KR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편 이상</a:t>
            </a:r>
            <a:r>
              <a:rPr lang="ko-KR" altLang="en-US" sz="2800" b="1" dirty="0">
                <a:latin typeface="함초롬돋움"/>
                <a:ea typeface="함초롬돋움"/>
                <a:cs typeface="함초롬돋움"/>
              </a:rPr>
              <a:t> 혹은 </a:t>
            </a:r>
            <a:r>
              <a:rPr lang="ko-KR" altLang="en-US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미제출과 불통과의 합이 </a:t>
            </a:r>
            <a:r>
              <a:rPr lang="en-US" altLang="ko-KR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편 이상</a:t>
            </a:r>
            <a:br>
              <a:rPr lang="en-US" altLang="ko-KR" sz="2800" dirty="0">
                <a:latin typeface="함초롬돋움"/>
                <a:ea typeface="함초롬돋움"/>
                <a:cs typeface="함초롬돋움"/>
              </a:rPr>
            </a:b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→ 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&lt;</a:t>
            </a:r>
            <a:r>
              <a:rPr lang="ko-KR" altLang="en-US" sz="2800" dirty="0" err="1">
                <a:latin typeface="함초롬돋움"/>
                <a:ea typeface="함초롬돋움"/>
                <a:cs typeface="함초롬돋움"/>
              </a:rPr>
              <a:t>자연계글쓰기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&gt;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 최종 성적이 </a:t>
            </a:r>
            <a:r>
              <a:rPr lang="en-US" altLang="ko-KR" sz="2800" b="1" dirty="0">
                <a:latin typeface="함초롬돋움"/>
                <a:ea typeface="함초롬돋움"/>
                <a:cs typeface="함초롬돋움"/>
              </a:rPr>
              <a:t>F</a:t>
            </a:r>
            <a:r>
              <a:rPr lang="ko-KR" altLang="en-US" sz="2800" b="1" dirty="0">
                <a:latin typeface="함초롬돋움"/>
                <a:ea typeface="함초롬돋움"/>
                <a:cs typeface="함초롬돋움"/>
              </a:rPr>
              <a:t>학점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으로 부여됨</a:t>
            </a:r>
          </a:p>
          <a:p>
            <a:pPr lvl="0">
              <a:defRPr/>
            </a:pPr>
            <a:endParaRPr lang="en-US" altLang="ko-KR" sz="2800" dirty="0">
              <a:latin typeface="함초롬돋움"/>
              <a:ea typeface="함초롬돋움"/>
              <a:cs typeface="함초롬돋움"/>
            </a:endParaRPr>
          </a:p>
          <a:p>
            <a:pPr marL="457200" lvl="0" indent="-457200">
              <a:buFont typeface="Wingdings"/>
              <a:buChar char="L"/>
              <a:defRPr/>
            </a:pPr>
            <a:r>
              <a:rPr lang="ko-KR" altLang="en-US" sz="2800" b="1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표절</a:t>
            </a:r>
            <a:r>
              <a:rPr lang="en-US" altLang="ko-KR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무단인용</a:t>
            </a:r>
            <a:r>
              <a:rPr lang="en-US" altLang="ko-KR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)</a:t>
            </a:r>
            <a:r>
              <a:rPr lang="ko-KR" altLang="en-US" sz="2800" b="1" dirty="0">
                <a:solidFill>
                  <a:srgbClr val="BA2929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이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확인될 경우</a:t>
            </a:r>
            <a:br>
              <a:rPr lang="en-US" altLang="ko-KR" sz="2800" dirty="0">
                <a:latin typeface="함초롬돋움"/>
                <a:ea typeface="함초롬돋움"/>
                <a:cs typeface="함초롬돋움"/>
              </a:rPr>
            </a:b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1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차 표절 →  해당 과제를</a:t>
            </a:r>
            <a:r>
              <a:rPr lang="ko-KR" altLang="en-US" sz="2800" b="1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2800" b="1" dirty="0">
                <a:solidFill>
                  <a:srgbClr val="A01F24"/>
                </a:solidFill>
                <a:latin typeface="함초롬돋움"/>
                <a:ea typeface="함초롬돋움"/>
                <a:cs typeface="함초롬돋움"/>
              </a:rPr>
              <a:t>0</a:t>
            </a:r>
            <a:r>
              <a:rPr lang="ko-KR" altLang="en-US" sz="2800" b="1" dirty="0">
                <a:solidFill>
                  <a:srgbClr val="A01F24"/>
                </a:solidFill>
                <a:latin typeface="함초롬돋움"/>
                <a:ea typeface="함초롬돋움"/>
                <a:cs typeface="함초롬돋움"/>
              </a:rPr>
              <a:t>점</a:t>
            </a:r>
            <a:r>
              <a:rPr lang="ko-KR" altLang="en-US" sz="2800" dirty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으로 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처리함</a:t>
            </a:r>
          </a:p>
          <a:p>
            <a:pPr marL="0" lvl="0" indent="0">
              <a:buFont typeface="Wingdings"/>
              <a:buNone/>
              <a:defRPr/>
            </a:pP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     </a:t>
            </a:r>
            <a:r>
              <a:rPr lang="en-US" altLang="ko-KR" sz="2800" dirty="0">
                <a:latin typeface="함초롬돋움"/>
                <a:ea typeface="함초롬돋움"/>
                <a:cs typeface="함초롬돋움"/>
              </a:rPr>
              <a:t>2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차 표절 →  최종 성적이 </a:t>
            </a:r>
            <a:r>
              <a:rPr lang="ko-KR" altLang="en-US" sz="2800" b="1" dirty="0" err="1">
                <a:solidFill>
                  <a:srgbClr val="A01F24"/>
                </a:solidFill>
                <a:latin typeface="함초롬돋움"/>
                <a:ea typeface="함초롬돋움"/>
                <a:cs typeface="함초롬돋움"/>
              </a:rPr>
              <a:t>F학점</a:t>
            </a:r>
            <a:r>
              <a:rPr lang="ko-KR" altLang="en-US" sz="2800" dirty="0" err="1">
                <a:latin typeface="함초롬돋움"/>
                <a:ea typeface="함초롬돋움"/>
                <a:cs typeface="함초롬돋움"/>
              </a:rPr>
              <a:t>으로</a:t>
            </a:r>
            <a:r>
              <a:rPr lang="ko-KR" altLang="en-US" sz="2800" dirty="0">
                <a:latin typeface="함초롬돋움"/>
                <a:ea typeface="함초롬돋움"/>
                <a:cs typeface="함초롬돋움"/>
              </a:rPr>
              <a:t> 부여됨</a:t>
            </a:r>
            <a:endParaRPr lang="en-US" altLang="ko-KR" sz="2400" dirty="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6BFDE-D47D-465F-9539-23388B00CA67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독후감 제출 시 주의 사항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7" name="그래픽 6" descr="연필">
            <a:extLst>
              <a:ext uri="{FF2B5EF4-FFF2-40B4-BE49-F238E27FC236}">
                <a16:creationId xmlns:a16="http://schemas.microsoft.com/office/drawing/2014/main" id="{0B48FFFB-9F22-448A-BDBD-9EE295C1E2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204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5407" y="1634903"/>
            <a:ext cx="11048301" cy="2690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수업 및 출석 관련 문의</a:t>
            </a:r>
          </a:p>
          <a:p>
            <a:pPr lvl="0">
              <a:lnSpc>
                <a:spcPct val="114000"/>
              </a:lnSpc>
              <a:defRPr/>
            </a:pP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2100" dirty="0" err="1">
                <a:latin typeface="함초롬돋움"/>
                <a:ea typeface="함초롬돋움"/>
                <a:cs typeface="함초롬돋움"/>
              </a:rPr>
              <a:t>백진우</a:t>
            </a: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 교수님</a:t>
            </a:r>
          </a:p>
          <a:p>
            <a:pPr lvl="0">
              <a:lnSpc>
                <a:spcPct val="114000"/>
              </a:lnSpc>
              <a:defRPr/>
            </a:pPr>
            <a:r>
              <a:rPr lang="en" altLang="ko-Kore-KR" sz="2400" b="0" i="0" u="none" strike="noStrike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curvetoe@sogang.ac.kr</a:t>
            </a:r>
            <a:endParaRPr lang="en" altLang="ko-Kore-KR" sz="2400" b="0" i="0" u="none" strike="noStrike" dirty="0"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0">
              <a:lnSpc>
                <a:spcPct val="114000"/>
              </a:lnSpc>
              <a:defRPr/>
            </a:pPr>
            <a:endParaRPr lang="en-US" altLang="ko-KR" sz="2100" dirty="0">
              <a:latin typeface="함초롬돋움"/>
              <a:ea typeface="함초롬돋움"/>
              <a:cs typeface="함초롬돋움"/>
            </a:endParaRPr>
          </a:p>
          <a:p>
            <a:pPr lvl="0">
              <a:lnSpc>
                <a:spcPct val="114000"/>
              </a:lnSpc>
              <a:defRPr/>
            </a:pPr>
            <a:r>
              <a:rPr lang="ko-KR" altLang="en-US" sz="2100" dirty="0">
                <a:solidFill>
                  <a:srgbClr val="B60005"/>
                </a:solidFill>
                <a:latin typeface="함초롬돋움"/>
                <a:ea typeface="함초롬돋움"/>
                <a:cs typeface="함초롬돋움"/>
              </a:rPr>
              <a:t>독후감 및 결과 관련 문의</a:t>
            </a:r>
          </a:p>
          <a:p>
            <a:pPr lvl="0">
              <a:lnSpc>
                <a:spcPct val="114000"/>
              </a:lnSpc>
              <a:defRPr/>
            </a:pPr>
            <a:r>
              <a:rPr lang="ko-KR" altLang="en-US" sz="2100" dirty="0">
                <a:latin typeface="함초롬돋움"/>
                <a:ea typeface="함초롬돋움"/>
                <a:cs typeface="함초롬돋움"/>
              </a:rPr>
              <a:t>담당 조교  김용범 조교</a:t>
            </a:r>
          </a:p>
          <a:p>
            <a:pPr lvl="0">
              <a:lnSpc>
                <a:spcPct val="114000"/>
              </a:lnSpc>
              <a:defRPr/>
            </a:pPr>
            <a:r>
              <a:rPr lang="en-US" altLang="ko-KR" sz="2100" dirty="0">
                <a:latin typeface="함초롬돋움"/>
                <a:ea typeface="함초롬돋움"/>
                <a:cs typeface="함초롬돋움"/>
              </a:rPr>
              <a:t>dydqja1234@naver.com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96ED3-253E-45BE-A329-1FEA1EB768A2}"/>
              </a:ext>
            </a:extLst>
          </p:cNvPr>
          <p:cNvSpPr txBox="1"/>
          <p:nvPr/>
        </p:nvSpPr>
        <p:spPr>
          <a:xfrm>
            <a:off x="1238774" y="288296"/>
            <a:ext cx="971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5C5A5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질의 사항</a:t>
            </a:r>
            <a:endParaRPr lang="en-US" altLang="ko-KR" sz="4800" b="1" dirty="0">
              <a:solidFill>
                <a:srgbClr val="5C5A5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7" name="그래픽 6" descr="연필">
            <a:extLst>
              <a:ext uri="{FF2B5EF4-FFF2-40B4-BE49-F238E27FC236}">
                <a16:creationId xmlns:a16="http://schemas.microsoft.com/office/drawing/2014/main" id="{E05C7095-303B-4065-8D8D-EAA63FE64A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443" y="288296"/>
            <a:ext cx="830998" cy="83099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9A3A9-4070-42CE-8BEB-208C13FF8DC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2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2060"/>
        </a:solidFill>
      </a:spPr>
      <a:bodyPr wrap="square">
        <a:spAutoFit/>
      </a:bodyPr>
      <a:lstStyle>
        <a:defPPr>
          <a:defRPr sz="2400" dirty="0" err="1">
            <a:solidFill>
              <a:schemeClr val="bg1"/>
            </a:solidFill>
            <a:latin typeface="함초롬돋움"/>
            <a:ea typeface="함초롬돋움"/>
            <a:cs typeface="함초롬돋움"/>
            <a:sym typeface="Wingdings"/>
          </a:defRPr>
        </a:defPPr>
      </a:lst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1576</Words>
  <Application>Microsoft Macintosh PowerPoint</Application>
  <PresentationFormat>와이드스크린</PresentationFormat>
  <Paragraphs>235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함초롬돋움</vt:lpstr>
      <vt:lpstr>Malgun Gothic</vt:lpstr>
      <vt:lpstr>Malgun Gothic</vt:lpstr>
      <vt:lpstr>netmarble Bold</vt:lpstr>
      <vt:lpstr>netmarble Medium</vt:lpstr>
      <vt:lpstr>Arial</vt:lpstr>
      <vt:lpstr>Helvetica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상진 이</dc:creator>
  <cp:lastModifiedBy>김용범</cp:lastModifiedBy>
  <cp:revision>400</cp:revision>
  <dcterms:created xsi:type="dcterms:W3CDTF">2019-02-21T14:28:55Z</dcterms:created>
  <dcterms:modified xsi:type="dcterms:W3CDTF">2024-02-29T17:36:49Z</dcterms:modified>
  <cp:version/>
</cp:coreProperties>
</file>